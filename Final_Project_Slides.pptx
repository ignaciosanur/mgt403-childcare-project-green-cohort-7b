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F5D62"/>
                </a:solidFill>
                <a:latin typeface="+mn-lt"/>
              </a:defRPr>
            </a:pPr>
            <a:r>
              <a:rPr sz="1100" b="0" i="0" u="none" strike="noStrike">
                <a:solidFill>
                  <a:srgbClr val="4F5D62"/>
                </a:solidFill>
                <a:latin typeface="+mn-lt"/>
              </a:rPr>
              <a:t>Premium over cost-predicted price, $/week, 2022</a:t>
            </a:r>
          </a:p>
        </c:rich>
      </c:tx>
      <c:layout/>
      <c:overlay val="0"/>
    </c:title>
    <c:autoTitleDeleted val="0"/>
    <c:plotArea>
      <c:layout/>
      <c:barChart>
        <c:barDir val="bar"/>
        <c:grouping val="stacked"/>
        <c:varyColors val="0"/>
        <c:ser>
          <c:idx val="0"/>
          <c:order val="0"/>
          <c:tx>
            <c:strRef>
              <c:f>Sheet1!$B$1</c:f>
              <c:strCache>
                <c:ptCount val="1"/>
                <c:pt idx="0">
                  <c:v>High confidence</c:v>
                </c:pt>
              </c:strCache>
            </c:strRef>
          </c:tx>
          <c:spPr>
            <a:solidFill>
              <a:srgbClr val="E8613C"/>
            </a:solidFill>
            <a:effectLst/>
          </c:spPr>
          <c:invertIfNegative val="0"/>
          <c:dLbls>
            <c:numFmt formatCode="&quot;+$&quot;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10. Brown, WI</c:v>
                  </c:pt>
                  <c:pt idx="1">
                    <c:v>9. McLean, IL</c:v>
                  </c:pt>
                  <c:pt idx="2">
                    <c:v>8. Norfolk, MA</c:v>
                  </c:pt>
                  <c:pt idx="3">
                    <c:v>7. La Crosse, WI</c:v>
                  </c:pt>
                  <c:pt idx="4">
                    <c:v>6. Olmsted, MN</c:v>
                  </c:pt>
                  <c:pt idx="5">
                    <c:v>5. Winnebago, WI</c:v>
                  </c:pt>
                  <c:pt idx="6">
                    <c:v>4. San Francisco, CA</c:v>
                  </c:pt>
                  <c:pt idx="7">
                    <c:v>3. Alexandria, VA</c:v>
                  </c:pt>
                  <c:pt idx="8">
                    <c:v>2. Stearns, MN</c:v>
                  </c:pt>
                  <c:pt idx="9">
                    <c:v>1. Arlington, VA</c:v>
                  </c:pt>
                </c:lvl>
              </c:multiLvlStrCache>
            </c:multiLvlStrRef>
          </c:cat>
          <c:val>
            <c:numRef>
              <c:f>Sheet1!$B$2:$B$11</c:f>
              <c:numCache>
                <c:formatCode>General</c:formatCode>
                <c:ptCount val="10"/>
                <c:pt idx="0">
                  <c:v>0</c:v>
                </c:pt>
                <c:pt idx="1">
                  <c:v>0</c:v>
                </c:pt>
                <c:pt idx="2">
                  <c:v>116</c:v>
                </c:pt>
                <c:pt idx="3">
                  <c:v>0</c:v>
                </c:pt>
                <c:pt idx="4">
                  <c:v>0</c:v>
                </c:pt>
                <c:pt idx="5">
                  <c:v>0</c:v>
                </c:pt>
                <c:pt idx="6">
                  <c:v>143</c:v>
                </c:pt>
                <c:pt idx="7">
                  <c:v>143</c:v>
                </c:pt>
                <c:pt idx="8">
                  <c:v>0</c:v>
                </c:pt>
                <c:pt idx="9">
                  <c:v>201</c:v>
                </c:pt>
              </c:numCache>
            </c:numRef>
          </c:val>
        </c:ser>
        <c:ser>
          <c:idx val="1"/>
          <c:order val="1"/>
          <c:tx>
            <c:strRef>
              <c:f>Sheet1!$C$1</c:f>
              <c:strCache>
                <c:ptCount val="1"/>
                <c:pt idx="0">
                  <c:v>Verify with local prices</c:v>
                </c:pt>
              </c:strCache>
            </c:strRef>
          </c:tx>
          <c:spPr>
            <a:solidFill>
              <a:srgbClr val="E9A23B"/>
            </a:solidFill>
            <a:effectLst/>
          </c:spPr>
          <c:invertIfNegative val="0"/>
          <c:dLbls>
            <c:numFmt formatCode="&quot;+$&quot;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10. Brown, WI</c:v>
                  </c:pt>
                  <c:pt idx="1">
                    <c:v>9. McLean, IL</c:v>
                  </c:pt>
                  <c:pt idx="2">
                    <c:v>8. Norfolk, MA</c:v>
                  </c:pt>
                  <c:pt idx="3">
                    <c:v>7. La Crosse, WI</c:v>
                  </c:pt>
                  <c:pt idx="4">
                    <c:v>6. Olmsted, MN</c:v>
                  </c:pt>
                  <c:pt idx="5">
                    <c:v>5. Winnebago, WI</c:v>
                  </c:pt>
                  <c:pt idx="6">
                    <c:v>4. San Francisco, CA</c:v>
                  </c:pt>
                  <c:pt idx="7">
                    <c:v>3. Alexandria, VA</c:v>
                  </c:pt>
                  <c:pt idx="8">
                    <c:v>2. Stearns, MN</c:v>
                  </c:pt>
                  <c:pt idx="9">
                    <c:v>1. Arlington, VA</c:v>
                  </c:pt>
                </c:lvl>
              </c:multiLvlStrCache>
            </c:multiLvlStrRef>
          </c:cat>
          <c:val>
            <c:numRef>
              <c:f>Sheet1!$C$2:$C$11</c:f>
              <c:numCache>
                <c:formatCode>General</c:formatCode>
                <c:ptCount val="10"/>
                <c:pt idx="0">
                  <c:v>100</c:v>
                </c:pt>
                <c:pt idx="1">
                  <c:v>111</c:v>
                </c:pt>
                <c:pt idx="2">
                  <c:v>0</c:v>
                </c:pt>
                <c:pt idx="3">
                  <c:v>119</c:v>
                </c:pt>
                <c:pt idx="4">
                  <c:v>120</c:v>
                </c:pt>
                <c:pt idx="5">
                  <c:v>126</c:v>
                </c:pt>
                <c:pt idx="6">
                  <c:v>0</c:v>
                </c:pt>
                <c:pt idx="7">
                  <c:v>0</c:v>
                </c:pt>
                <c:pt idx="8">
                  <c:v>170</c:v>
                </c:pt>
                <c:pt idx="9">
                  <c:v>0</c:v>
                </c:pt>
              </c:numCache>
            </c:numRef>
          </c:val>
        </c:ser>
        <c:dLbls>
          <c:numFmt formatCode="&quot;+$&quot;0;;" sourceLinked="0"/>
          <c:txPr>
            <a:bodyPr/>
            <a:lstStyle/>
            <a:p>
              <a:pPr>
                <a:defRPr b="1" i="0" strike="noStrike" sz="10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2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F5D6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4F5D62"/>
                </a:solidFill>
                <a:latin typeface="+mn-lt"/>
              </a:defRPr>
            </a:pPr>
            <a:r>
              <a:rPr sz="1100" b="0" i="0" u="none" strike="noStrike">
                <a:solidFill>
                  <a:srgbClr val="4F5D62"/>
                </a:solidFill>
                <a:latin typeface="+mn-lt"/>
              </a:rPr>
              <a:t>Premium persistence, 712 counties observed every year</a:t>
            </a:r>
          </a:p>
        </c:rich>
      </c:tx>
      <c:layout/>
      <c:overlay val="0"/>
    </c:title>
    <c:autoTitleDeleted val="0"/>
    <c:plotArea>
      <c:layout/>
      <c:lineChart>
        <c:varyColors val="0"/>
        <c:ser>
          <c:idx val="0"/>
          <c:order val="0"/>
          <c:tx>
            <c:strRef>
              <c:f>Sheet1!$B$1</c:f>
              <c:strCache>
                <c:ptCount val="1"/>
                <c:pt idx="0">
                  <c:v>Correlation of each year's premium with 2022</c:v>
                </c:pt>
              </c:strCache>
            </c:strRef>
          </c:tx>
          <c:spPr>
            <a:solidFill>
              <a:srgbClr val="1F6F78"/>
            </a:solidFill>
            <a:ln w="31750" cap="flat">
              <a:solidFill>
                <a:srgbClr val="1F6F7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F6F78"/>
              </a:solidFill>
              <a:ln w="9525" cap="flat">
                <a:solidFill>
                  <a:srgbClr val="1F6F78"/>
                </a:solidFill>
                <a:prstDash val="solid"/>
                <a:round/>
              </a:ln>
              <a:effectLst/>
            </c:spPr>
          </c:marker>
          <c:cat>
            <c:multiLvlStrRef>
              <c:f>Sheet1!$A$2:$A$8</c:f>
              <c:multiLvlStrCache>
                <c:ptCount val="7"/>
                <c:lvl>
                  <c:pt idx="0">
                    <c:v>2015</c:v>
                  </c:pt>
                  <c:pt idx="1">
                    <c:v>2016</c:v>
                  </c:pt>
                  <c:pt idx="2">
                    <c:v>2017</c:v>
                  </c:pt>
                  <c:pt idx="3">
                    <c:v>2018</c:v>
                  </c:pt>
                  <c:pt idx="4">
                    <c:v>2019</c:v>
                  </c:pt>
                  <c:pt idx="5">
                    <c:v>2020</c:v>
                  </c:pt>
                  <c:pt idx="6">
                    <c:v>2021</c:v>
                  </c:pt>
                </c:lvl>
              </c:multiLvlStrCache>
            </c:multiLvlStrRef>
          </c:cat>
          <c:val>
            <c:numRef>
              <c:f>Sheet1!$B$2:$B$8</c:f>
              <c:numCache>
                <c:formatCode>General</c:formatCode>
                <c:ptCount val="7"/>
                <c:pt idx="0">
                  <c:v>0.58</c:v>
                </c:pt>
                <c:pt idx="1">
                  <c:v>0.6</c:v>
                </c:pt>
                <c:pt idx="2">
                  <c:v>0.67</c:v>
                </c:pt>
                <c:pt idx="3">
                  <c:v>0.7</c:v>
                </c:pt>
                <c:pt idx="4">
                  <c:v>0.82</c:v>
                </c:pt>
                <c:pt idx="5">
                  <c:v>0.88</c:v>
                </c:pt>
                <c:pt idx="6">
                  <c:v>0.94</c:v>
                </c:pt>
              </c:numCache>
            </c:numRef>
          </c:val>
          <c:smooth val="0"/>
        </c:ser>
        <c:ser>
          <c:idx val="1"/>
          <c:order val="1"/>
          <c:tx>
            <c:strRef>
              <c:f>Sheet1!$C$1</c:f>
              <c:strCache>
                <c:ptCount val="1"/>
                <c:pt idx="0">
                  <c:v>Share of 2022 top-10% counties already top 10% that year</c:v>
                </c:pt>
              </c:strCache>
            </c:strRef>
          </c:tx>
          <c:spPr>
            <a:solidFill>
              <a:srgbClr val="E8613C"/>
            </a:solidFill>
            <a:ln w="31750" cap="flat">
              <a:solidFill>
                <a:srgbClr val="E8613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613C"/>
              </a:solidFill>
              <a:ln w="9525" cap="flat">
                <a:solidFill>
                  <a:srgbClr val="E8613C"/>
                </a:solidFill>
                <a:prstDash val="solid"/>
                <a:round/>
              </a:ln>
              <a:effectLst/>
            </c:spPr>
          </c:marker>
          <c:cat>
            <c:multiLvlStrRef>
              <c:f>Sheet1!$A$2:$A$8</c:f>
              <c:multiLvlStrCache>
                <c:ptCount val="7"/>
                <c:lvl>
                  <c:pt idx="0">
                    <c:v>2015</c:v>
                  </c:pt>
                  <c:pt idx="1">
                    <c:v>2016</c:v>
                  </c:pt>
                  <c:pt idx="2">
                    <c:v>2017</c:v>
                  </c:pt>
                  <c:pt idx="3">
                    <c:v>2018</c:v>
                  </c:pt>
                  <c:pt idx="4">
                    <c:v>2019</c:v>
                  </c:pt>
                  <c:pt idx="5">
                    <c:v>2020</c:v>
                  </c:pt>
                  <c:pt idx="6">
                    <c:v>2021</c:v>
                  </c:pt>
                </c:lvl>
              </c:multiLvlStrCache>
            </c:multiLvlStrRef>
          </c:cat>
          <c:val>
            <c:numRef>
              <c:f>Sheet1!$C$2:$C$8</c:f>
              <c:numCache>
                <c:formatCode>General</c:formatCode>
                <c:ptCount val="7"/>
                <c:pt idx="0">
                  <c:v>0.48</c:v>
                </c:pt>
                <c:pt idx="1">
                  <c:v>0.52</c:v>
                </c:pt>
                <c:pt idx="2">
                  <c:v>0.56</c:v>
                </c:pt>
                <c:pt idx="3">
                  <c:v>0.55</c:v>
                </c:pt>
                <c:pt idx="4">
                  <c:v>0.69</c:v>
                </c:pt>
                <c:pt idx="5">
                  <c:v>0.76</c:v>
                </c:pt>
                <c:pt idx="6">
                  <c:v>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F5D6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5E2E3"/>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F5D6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F5D6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were asked where a for-profit chain should open center-based preschools. Our definition of attractive: prices high relative to the two main costs, childcare wages and rent. Our answer: four counties pass every check (Arlington, Alexandria, San Francisco, Norfolk); six more look promising but need local price validation. We analyzed all metro counties with 2022 data; the slides walk through the list, how we got it, the market profile, whether premiums last, and what the data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Premium = actual 2022 median preschool price minus the price our cost model predicts from childcare wages and rent. Arlington charges about $496 a week where costs predict $296. Coral bars pass every data check. Amber bars are real premiums in the data but rest on weaker price data: four report a regional survey rate, two have price trends far outside the norm that the NDCP interpolates between surveys. If those six fail local validation, the alternates on the right (Howard MD, Burlington NJ, DuPage IL, Gloucester NJ) pass every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across metro counties we regress the median preschool price on childcare-worker wages and rent; both matter separately and together explain about 60% of price differences. Step 2: the residual is the premium. Step 3: we keep markets with at least 5,000 young children whose parents all work, and premiums that were positive in every observed year since 2019. Step 4: rank, then flag counties whose price data are weaker. Reliability: premiums predict themselves three years ahead, a log model gives the same ranking, and the model fits every year. The caveat in amber: a big share of premiums is state-level, partly because several states publish regional survey prices.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pick locations on four measured characteristics: the premium, the two cost drivers that define it, and demand depth. The recommended counties share a profile: about 50% higher income, far more college-educated women, more women working full-time. Income, female college share and the share of young children needing care are each significantly related to premiums, but together explain only 7% of them, so most of the premium is local market conditions our data do not see directly. That is why we rank on the premium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re-estimated the cost model every year and tracked each county's premium. Premiums fade slowly: correlation with 2022 is 0.94 one year back, 0.82 three years back, 0.58 seven years back. Of today's top-decile counties, 69% were already top decile in 2019. A regression of 2022 on 2019 premiums has slope 0.88. Caveat: survey cycles and NDCP's interpolation make adjacent years artificially similar, so we lean on the 2019 vs 2022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model sees prices and two costs, not supply. A high premium could signal unmet demand or a market that is hard to enter. State ratio rules raise labor cost per child; residential rent is only a proxy for commercial leases; six states have no usable 2022 prices; and NDCP prices are posted survey medians. Next steps: diligence on the four high-confidence counties, local price checks for the six to verify, and adding capacity and commercial rents. Data handling decisions are documented in the appendix document and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900" dirty="0">
                <a:solidFill>
                  <a:srgbClr val="7C8A8E"/>
                </a:solidFill>
                <a:latin typeface="Calibri" pitchFamily="34" charset="0"/>
                <a:ea typeface="Calibri" pitchFamily="34" charset="-122"/>
                <a:cs typeface="Calibri" pitchFamily="34" charset="-120"/>
              </a:rPr>
              <a:t>MGT 403 · Green Cohort Team 7B · metro counties, 2022 $</a:t>
            </a:r>
            <a:endParaRPr lang="en-US" sz="9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548640" y="457200"/>
            <a:ext cx="8046720" cy="914400"/>
          </a:xfrm>
          <a:prstGeom prst="rect">
            <a:avLst/>
          </a:prstGeom>
          <a:noFill/>
          <a:ln/>
        </p:spPr>
        <p:txBody>
          <a:bodyPr wrap="square" lIns="0" tIns="0" rIns="0" bIns="0" rtlCol="0" anchor="t"/>
          <a:lstStyle/>
          <a:p>
            <a:pPr algn="l" indent="0" marL="0">
              <a:buNone/>
            </a:pPr>
            <a:r>
              <a:rPr lang="en-US" sz="2800" b="1" dirty="0">
                <a:solidFill>
                  <a:srgbClr val="FFFFFF"/>
                </a:solidFill>
                <a:latin typeface="Cambria" pitchFamily="34" charset="0"/>
                <a:ea typeface="Cambria" pitchFamily="34" charset="-122"/>
                <a:cs typeface="Cambria" pitchFamily="34" charset="-120"/>
              </a:rPr>
              <a:t>Where should we open our next center-based preschools?</a:t>
            </a:r>
            <a:endParaRPr lang="en-US" sz="2800" dirty="0"/>
          </a:p>
        </p:txBody>
      </p:sp>
      <p:sp>
        <p:nvSpPr>
          <p:cNvPr id="3" name="Text 1"/>
          <p:cNvSpPr txBox="1"/>
          <p:nvPr/>
        </p:nvSpPr>
        <p:spPr>
          <a:xfrm>
            <a:off x="548640" y="1463040"/>
            <a:ext cx="8046720" cy="548640"/>
          </a:xfrm>
          <a:prstGeom prst="rect">
            <a:avLst/>
          </a:prstGeom>
          <a:noFill/>
          <a:ln/>
        </p:spPr>
        <p:txBody>
          <a:bodyPr wrap="square" lIns="0" tIns="0" rIns="0" bIns="0" rtlCol="0" anchor="ctr"/>
          <a:lstStyle/>
          <a:p>
            <a:pPr indent="0" marL="0">
              <a:buNone/>
            </a:pPr>
            <a:r>
              <a:rPr lang="en-US" sz="1600" dirty="0">
                <a:solidFill>
                  <a:srgbClr val="CFE3E4"/>
                </a:solidFill>
                <a:latin typeface="Calibri" pitchFamily="34" charset="0"/>
                <a:ea typeface="Calibri" pitchFamily="34" charset="-122"/>
                <a:cs typeface="Calibri" pitchFamily="34" charset="-120"/>
              </a:rPr>
              <a:t>Answer: start with four counties where preschool prices sit well above what labor and rent costs predict, and validate six more</a:t>
            </a:r>
            <a:endParaRPr lang="en-US" sz="1600" dirty="0"/>
          </a:p>
        </p:txBody>
      </p:sp>
      <p:sp>
        <p:nvSpPr>
          <p:cNvPr id="4" name="Shape 2"/>
          <p:cNvSpPr/>
          <p:nvPr/>
        </p:nvSpPr>
        <p:spPr>
          <a:xfrm>
            <a:off x="548640" y="2286000"/>
            <a:ext cx="1856232" cy="1417320"/>
          </a:xfrm>
          <a:prstGeom prst="roundRect">
            <a:avLst>
              <a:gd name="adj" fmla="val 5161"/>
            </a:avLst>
          </a:prstGeom>
          <a:solidFill>
            <a:srgbClr val="174A53"/>
          </a:solidFill>
          <a:ln w="12700">
            <a:solidFill>
              <a:srgbClr val="174A53"/>
            </a:solidFill>
            <a:prstDash val="solid"/>
          </a:ln>
        </p:spPr>
      </p:sp>
      <p:sp>
        <p:nvSpPr>
          <p:cNvPr id="5" name="Text 3"/>
          <p:cNvSpPr txBox="1"/>
          <p:nvPr/>
        </p:nvSpPr>
        <p:spPr>
          <a:xfrm>
            <a:off x="685800" y="2395728"/>
            <a:ext cx="1600200" cy="548640"/>
          </a:xfrm>
          <a:prstGeom prst="rect">
            <a:avLst/>
          </a:prstGeom>
          <a:noFill/>
          <a:ln/>
        </p:spPr>
        <p:txBody>
          <a:bodyPr wrap="square" lIns="0" tIns="0" rIns="0" bIns="0" rtlCol="0" anchor="ctr"/>
          <a:lstStyle/>
          <a:p>
            <a:pPr indent="0" marL="0">
              <a:buNone/>
            </a:pPr>
            <a:r>
              <a:rPr lang="en-US" sz="3000" b="1" dirty="0">
                <a:solidFill>
                  <a:srgbClr val="E8613C"/>
                </a:solidFill>
                <a:latin typeface="Cambria" pitchFamily="34" charset="0"/>
                <a:ea typeface="Cambria" pitchFamily="34" charset="-122"/>
                <a:cs typeface="Cambria" pitchFamily="34" charset="-120"/>
              </a:rPr>
              <a:t>+$201</a:t>
            </a:r>
            <a:endParaRPr lang="en-US" sz="3000" dirty="0"/>
          </a:p>
        </p:txBody>
      </p:sp>
      <p:sp>
        <p:nvSpPr>
          <p:cNvPr id="6" name="Text 4"/>
          <p:cNvSpPr txBox="1"/>
          <p:nvPr/>
        </p:nvSpPr>
        <p:spPr>
          <a:xfrm>
            <a:off x="685800" y="2926080"/>
            <a:ext cx="1600200" cy="274320"/>
          </a:xfrm>
          <a:prstGeom prst="rect">
            <a:avLst/>
          </a:prstGeom>
          <a:noFill/>
          <a:ln/>
        </p:spPr>
        <p:txBody>
          <a:bodyPr wrap="square" lIns="0" tIns="0" rIns="0" bIns="0" rtlCol="0" anchor="ctr"/>
          <a:lstStyle/>
          <a:p>
            <a:pPr indent="0" marL="0">
              <a:buNone/>
            </a:pPr>
            <a:r>
              <a:rPr lang="en-US" sz="1000" dirty="0">
                <a:solidFill>
                  <a:srgbClr val="CFE3E4"/>
                </a:solidFill>
                <a:latin typeface="Calibri" pitchFamily="34" charset="0"/>
                <a:ea typeface="Calibri" pitchFamily="34" charset="-122"/>
                <a:cs typeface="Calibri" pitchFamily="34" charset="-120"/>
              </a:rPr>
              <a:t>per week above cost prediction</a:t>
            </a:r>
            <a:endParaRPr lang="en-US" sz="1000" dirty="0"/>
          </a:p>
        </p:txBody>
      </p:sp>
      <p:sp>
        <p:nvSpPr>
          <p:cNvPr id="7" name="Text 5"/>
          <p:cNvSpPr txBox="1"/>
          <p:nvPr/>
        </p:nvSpPr>
        <p:spPr>
          <a:xfrm>
            <a:off x="685800" y="324612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Arlington, VA</a:t>
            </a:r>
            <a:endParaRPr lang="en-US" sz="1400" dirty="0"/>
          </a:p>
        </p:txBody>
      </p:sp>
      <p:sp>
        <p:nvSpPr>
          <p:cNvPr id="8" name="Shape 6"/>
          <p:cNvSpPr/>
          <p:nvPr/>
        </p:nvSpPr>
        <p:spPr>
          <a:xfrm>
            <a:off x="2587752" y="2286000"/>
            <a:ext cx="1856232" cy="1417320"/>
          </a:xfrm>
          <a:prstGeom prst="roundRect">
            <a:avLst>
              <a:gd name="adj" fmla="val 5161"/>
            </a:avLst>
          </a:prstGeom>
          <a:solidFill>
            <a:srgbClr val="174A53"/>
          </a:solidFill>
          <a:ln w="12700">
            <a:solidFill>
              <a:srgbClr val="174A53"/>
            </a:solidFill>
            <a:prstDash val="solid"/>
          </a:ln>
        </p:spPr>
      </p:sp>
      <p:sp>
        <p:nvSpPr>
          <p:cNvPr id="9" name="Text 7"/>
          <p:cNvSpPr txBox="1"/>
          <p:nvPr/>
        </p:nvSpPr>
        <p:spPr>
          <a:xfrm>
            <a:off x="2724912" y="2395728"/>
            <a:ext cx="1600200" cy="548640"/>
          </a:xfrm>
          <a:prstGeom prst="rect">
            <a:avLst/>
          </a:prstGeom>
          <a:noFill/>
          <a:ln/>
        </p:spPr>
        <p:txBody>
          <a:bodyPr wrap="square" lIns="0" tIns="0" rIns="0" bIns="0" rtlCol="0" anchor="ctr"/>
          <a:lstStyle/>
          <a:p>
            <a:pPr indent="0" marL="0">
              <a:buNone/>
            </a:pPr>
            <a:r>
              <a:rPr lang="en-US" sz="3000" b="1" dirty="0">
                <a:solidFill>
                  <a:srgbClr val="E8613C"/>
                </a:solidFill>
                <a:latin typeface="Cambria" pitchFamily="34" charset="0"/>
                <a:ea typeface="Cambria" pitchFamily="34" charset="-122"/>
                <a:cs typeface="Cambria" pitchFamily="34" charset="-120"/>
              </a:rPr>
              <a:t>+$143</a:t>
            </a:r>
            <a:endParaRPr lang="en-US" sz="3000" dirty="0"/>
          </a:p>
        </p:txBody>
      </p:sp>
      <p:sp>
        <p:nvSpPr>
          <p:cNvPr id="10" name="Text 8"/>
          <p:cNvSpPr txBox="1"/>
          <p:nvPr/>
        </p:nvSpPr>
        <p:spPr>
          <a:xfrm>
            <a:off x="2724912" y="2926080"/>
            <a:ext cx="1600200" cy="274320"/>
          </a:xfrm>
          <a:prstGeom prst="rect">
            <a:avLst/>
          </a:prstGeom>
          <a:noFill/>
          <a:ln/>
        </p:spPr>
        <p:txBody>
          <a:bodyPr wrap="square" lIns="0" tIns="0" rIns="0" bIns="0" rtlCol="0" anchor="ctr"/>
          <a:lstStyle/>
          <a:p>
            <a:pPr indent="0" marL="0">
              <a:buNone/>
            </a:pPr>
            <a:r>
              <a:rPr lang="en-US" sz="1000" dirty="0">
                <a:solidFill>
                  <a:srgbClr val="CFE3E4"/>
                </a:solidFill>
                <a:latin typeface="Calibri" pitchFamily="34" charset="0"/>
                <a:ea typeface="Calibri" pitchFamily="34" charset="-122"/>
                <a:cs typeface="Calibri" pitchFamily="34" charset="-120"/>
              </a:rPr>
              <a:t>per week above cost prediction</a:t>
            </a:r>
            <a:endParaRPr lang="en-US" sz="1000" dirty="0"/>
          </a:p>
        </p:txBody>
      </p:sp>
      <p:sp>
        <p:nvSpPr>
          <p:cNvPr id="11" name="Text 9"/>
          <p:cNvSpPr txBox="1"/>
          <p:nvPr/>
        </p:nvSpPr>
        <p:spPr>
          <a:xfrm>
            <a:off x="2724912" y="324612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Alexandria, VA</a:t>
            </a:r>
            <a:endParaRPr lang="en-US" sz="1400" dirty="0"/>
          </a:p>
        </p:txBody>
      </p:sp>
      <p:sp>
        <p:nvSpPr>
          <p:cNvPr id="12" name="Shape 10"/>
          <p:cNvSpPr/>
          <p:nvPr/>
        </p:nvSpPr>
        <p:spPr>
          <a:xfrm>
            <a:off x="4626864" y="2286000"/>
            <a:ext cx="1856232" cy="1417320"/>
          </a:xfrm>
          <a:prstGeom prst="roundRect">
            <a:avLst>
              <a:gd name="adj" fmla="val 5161"/>
            </a:avLst>
          </a:prstGeom>
          <a:solidFill>
            <a:srgbClr val="174A53"/>
          </a:solidFill>
          <a:ln w="12700">
            <a:solidFill>
              <a:srgbClr val="174A53"/>
            </a:solidFill>
            <a:prstDash val="solid"/>
          </a:ln>
        </p:spPr>
      </p:sp>
      <p:sp>
        <p:nvSpPr>
          <p:cNvPr id="13" name="Text 11"/>
          <p:cNvSpPr txBox="1"/>
          <p:nvPr/>
        </p:nvSpPr>
        <p:spPr>
          <a:xfrm>
            <a:off x="4764024" y="2395728"/>
            <a:ext cx="1600200" cy="548640"/>
          </a:xfrm>
          <a:prstGeom prst="rect">
            <a:avLst/>
          </a:prstGeom>
          <a:noFill/>
          <a:ln/>
        </p:spPr>
        <p:txBody>
          <a:bodyPr wrap="square" lIns="0" tIns="0" rIns="0" bIns="0" rtlCol="0" anchor="ctr"/>
          <a:lstStyle/>
          <a:p>
            <a:pPr indent="0" marL="0">
              <a:buNone/>
            </a:pPr>
            <a:r>
              <a:rPr lang="en-US" sz="3000" b="1" dirty="0">
                <a:solidFill>
                  <a:srgbClr val="E8613C"/>
                </a:solidFill>
                <a:latin typeface="Cambria" pitchFamily="34" charset="0"/>
                <a:ea typeface="Cambria" pitchFamily="34" charset="-122"/>
                <a:cs typeface="Cambria" pitchFamily="34" charset="-120"/>
              </a:rPr>
              <a:t>+$143</a:t>
            </a:r>
            <a:endParaRPr lang="en-US" sz="3000" dirty="0"/>
          </a:p>
        </p:txBody>
      </p:sp>
      <p:sp>
        <p:nvSpPr>
          <p:cNvPr id="14" name="Text 12"/>
          <p:cNvSpPr txBox="1"/>
          <p:nvPr/>
        </p:nvSpPr>
        <p:spPr>
          <a:xfrm>
            <a:off x="4764024" y="2926080"/>
            <a:ext cx="1600200" cy="274320"/>
          </a:xfrm>
          <a:prstGeom prst="rect">
            <a:avLst/>
          </a:prstGeom>
          <a:noFill/>
          <a:ln/>
        </p:spPr>
        <p:txBody>
          <a:bodyPr wrap="square" lIns="0" tIns="0" rIns="0" bIns="0" rtlCol="0" anchor="ctr"/>
          <a:lstStyle/>
          <a:p>
            <a:pPr indent="0" marL="0">
              <a:buNone/>
            </a:pPr>
            <a:r>
              <a:rPr lang="en-US" sz="1000" dirty="0">
                <a:solidFill>
                  <a:srgbClr val="CFE3E4"/>
                </a:solidFill>
                <a:latin typeface="Calibri" pitchFamily="34" charset="0"/>
                <a:ea typeface="Calibri" pitchFamily="34" charset="-122"/>
                <a:cs typeface="Calibri" pitchFamily="34" charset="-120"/>
              </a:rPr>
              <a:t>per week above cost prediction</a:t>
            </a:r>
            <a:endParaRPr lang="en-US" sz="1000" dirty="0"/>
          </a:p>
        </p:txBody>
      </p:sp>
      <p:sp>
        <p:nvSpPr>
          <p:cNvPr id="15" name="Text 13"/>
          <p:cNvSpPr txBox="1"/>
          <p:nvPr/>
        </p:nvSpPr>
        <p:spPr>
          <a:xfrm>
            <a:off x="4764024" y="324612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San Francisco, CA</a:t>
            </a:r>
            <a:endParaRPr lang="en-US" sz="1400" dirty="0"/>
          </a:p>
        </p:txBody>
      </p:sp>
      <p:sp>
        <p:nvSpPr>
          <p:cNvPr id="16" name="Shape 14"/>
          <p:cNvSpPr/>
          <p:nvPr/>
        </p:nvSpPr>
        <p:spPr>
          <a:xfrm>
            <a:off x="6665976" y="2286000"/>
            <a:ext cx="1856232" cy="1417320"/>
          </a:xfrm>
          <a:prstGeom prst="roundRect">
            <a:avLst>
              <a:gd name="adj" fmla="val 5161"/>
            </a:avLst>
          </a:prstGeom>
          <a:solidFill>
            <a:srgbClr val="174A53"/>
          </a:solidFill>
          <a:ln w="12700">
            <a:solidFill>
              <a:srgbClr val="174A53"/>
            </a:solidFill>
            <a:prstDash val="solid"/>
          </a:ln>
        </p:spPr>
      </p:sp>
      <p:sp>
        <p:nvSpPr>
          <p:cNvPr id="17" name="Text 15"/>
          <p:cNvSpPr txBox="1"/>
          <p:nvPr/>
        </p:nvSpPr>
        <p:spPr>
          <a:xfrm>
            <a:off x="6803136" y="2395728"/>
            <a:ext cx="1600200" cy="548640"/>
          </a:xfrm>
          <a:prstGeom prst="rect">
            <a:avLst/>
          </a:prstGeom>
          <a:noFill/>
          <a:ln/>
        </p:spPr>
        <p:txBody>
          <a:bodyPr wrap="square" lIns="0" tIns="0" rIns="0" bIns="0" rtlCol="0" anchor="ctr"/>
          <a:lstStyle/>
          <a:p>
            <a:pPr indent="0" marL="0">
              <a:buNone/>
            </a:pPr>
            <a:r>
              <a:rPr lang="en-US" sz="3000" b="1" dirty="0">
                <a:solidFill>
                  <a:srgbClr val="E8613C"/>
                </a:solidFill>
                <a:latin typeface="Cambria" pitchFamily="34" charset="0"/>
                <a:ea typeface="Cambria" pitchFamily="34" charset="-122"/>
                <a:cs typeface="Cambria" pitchFamily="34" charset="-120"/>
              </a:rPr>
              <a:t>+$116</a:t>
            </a:r>
            <a:endParaRPr lang="en-US" sz="3000" dirty="0"/>
          </a:p>
        </p:txBody>
      </p:sp>
      <p:sp>
        <p:nvSpPr>
          <p:cNvPr id="18" name="Text 16"/>
          <p:cNvSpPr txBox="1"/>
          <p:nvPr/>
        </p:nvSpPr>
        <p:spPr>
          <a:xfrm>
            <a:off x="6803136" y="2926080"/>
            <a:ext cx="1600200" cy="274320"/>
          </a:xfrm>
          <a:prstGeom prst="rect">
            <a:avLst/>
          </a:prstGeom>
          <a:noFill/>
          <a:ln/>
        </p:spPr>
        <p:txBody>
          <a:bodyPr wrap="square" lIns="0" tIns="0" rIns="0" bIns="0" rtlCol="0" anchor="ctr"/>
          <a:lstStyle/>
          <a:p>
            <a:pPr indent="0" marL="0">
              <a:buNone/>
            </a:pPr>
            <a:r>
              <a:rPr lang="en-US" sz="1000" dirty="0">
                <a:solidFill>
                  <a:srgbClr val="CFE3E4"/>
                </a:solidFill>
                <a:latin typeface="Calibri" pitchFamily="34" charset="0"/>
                <a:ea typeface="Calibri" pitchFamily="34" charset="-122"/>
                <a:cs typeface="Calibri" pitchFamily="34" charset="-120"/>
              </a:rPr>
              <a:t>per week above cost prediction</a:t>
            </a:r>
            <a:endParaRPr lang="en-US" sz="1000" dirty="0"/>
          </a:p>
        </p:txBody>
      </p:sp>
      <p:sp>
        <p:nvSpPr>
          <p:cNvPr id="19" name="Text 17"/>
          <p:cNvSpPr txBox="1"/>
          <p:nvPr/>
        </p:nvSpPr>
        <p:spPr>
          <a:xfrm>
            <a:off x="6803136" y="3246120"/>
            <a:ext cx="16002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Norfolk, MA</a:t>
            </a:r>
            <a:endParaRPr lang="en-US" sz="1400" dirty="0"/>
          </a:p>
        </p:txBody>
      </p:sp>
      <p:sp>
        <p:nvSpPr>
          <p:cNvPr id="20" name="Text 18"/>
          <p:cNvSpPr txBox="1"/>
          <p:nvPr/>
        </p:nvSpPr>
        <p:spPr>
          <a:xfrm>
            <a:off x="548640" y="4023360"/>
            <a:ext cx="8046720" cy="640080"/>
          </a:xfrm>
          <a:prstGeom prst="rect">
            <a:avLst/>
          </a:prstGeom>
          <a:noFill/>
          <a:ln/>
        </p:spPr>
        <p:txBody>
          <a:bodyPr wrap="square" lIns="0" tIns="0" rIns="0" bIns="0" rtlCol="0" anchor="ctr"/>
          <a:lstStyle/>
          <a:p>
            <a:pPr indent="0" marL="0">
              <a:spcAft>
                <a:spcPts val="600"/>
              </a:spcAft>
              <a:buNone/>
            </a:pPr>
            <a:r>
              <a:rPr lang="en-US" sz="1200" dirty="0">
                <a:solidFill>
                  <a:srgbClr val="CFE3E4"/>
                </a:solidFill>
                <a:latin typeface="Calibri" pitchFamily="34" charset="0"/>
                <a:ea typeface="Calibri" pitchFamily="34" charset="-122"/>
                <a:cs typeface="Calibri" pitchFamily="34" charset="-120"/>
              </a:rPr>
              <a:t>998 metro counties analyzed  ·  155 pass market-size and persistence screens  ·  top 10 average premium +$135/week</a:t>
            </a:r>
            <a:endParaRPr lang="en-US" sz="1200" dirty="0"/>
          </a:p>
          <a:p>
            <a:pPr indent="0" marL="0">
              <a:spcAft>
                <a:spcPts val="600"/>
              </a:spcAft>
              <a:buNone/>
            </a:pPr>
            <a:r>
              <a:rPr lang="en-US" sz="1200" dirty="0">
                <a:solidFill>
                  <a:srgbClr val="CFE3E4"/>
                </a:solidFill>
                <a:latin typeface="Calibri" pitchFamily="34" charset="0"/>
                <a:ea typeface="Calibri" pitchFamily="34" charset="-122"/>
                <a:cs typeface="Calibri" pitchFamily="34" charset="-120"/>
              </a:rPr>
              <a:t>Ignacio Sanchez Urdaneta · Beck Jamilov · Claudia Palacios Surco · Gary Chen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92608"/>
            <a:ext cx="8229600" cy="548640"/>
          </a:xfrm>
          <a:prstGeom prst="rect">
            <a:avLst/>
          </a:prstGeom>
          <a:noFill/>
          <a:ln/>
        </p:spPr>
        <p:txBody>
          <a:bodyPr wrap="square" lIns="0" tIns="0" rIns="0" bIns="0" rtlCol="0" anchor="t"/>
          <a:lstStyle/>
          <a:p>
            <a:pPr algn="l" indent="0" marL="0">
              <a:buNone/>
            </a:pPr>
            <a:r>
              <a:rPr lang="en-US" sz="2200" b="1" dirty="0">
                <a:solidFill>
                  <a:srgbClr val="0E3B43"/>
                </a:solidFill>
                <a:latin typeface="Cambria" pitchFamily="34" charset="0"/>
                <a:ea typeface="Cambria" pitchFamily="34" charset="-122"/>
                <a:cs typeface="Cambria" pitchFamily="34" charset="-120"/>
              </a:rPr>
              <a:t>Ten counties charge $100–$200 a week above their cost prediction</a:t>
            </a:r>
            <a:endParaRPr lang="en-US" sz="2200" dirty="0"/>
          </a:p>
        </p:txBody>
      </p:sp>
      <p:graphicFrame>
        <p:nvGraphicFramePr>
          <p:cNvPr id="3" name="Chart 0" descr=""/>
          <p:cNvGraphicFramePr/>
          <p:nvPr/>
        </p:nvGraphicFramePr>
        <p:xfrm>
          <a:off x="365760" y="914400"/>
          <a:ext cx="5120640" cy="37947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715000" y="960120"/>
            <a:ext cx="2971800" cy="1783080"/>
          </a:xfrm>
          <a:prstGeom prst="roundRect">
            <a:avLst>
              <a:gd name="adj" fmla="val 4103"/>
            </a:avLst>
          </a:prstGeom>
          <a:solidFill>
            <a:srgbClr val="EAF3F3"/>
          </a:solidFill>
          <a:ln w="12700">
            <a:solidFill>
              <a:srgbClr val="EAF3F3"/>
            </a:solidFill>
            <a:prstDash val="solid"/>
          </a:ln>
        </p:spPr>
      </p:sp>
      <p:sp>
        <p:nvSpPr>
          <p:cNvPr id="5" name="Text 2"/>
          <p:cNvSpPr txBox="1"/>
          <p:nvPr/>
        </p:nvSpPr>
        <p:spPr>
          <a:xfrm>
            <a:off x="5852160" y="1051560"/>
            <a:ext cx="2697480" cy="1645920"/>
          </a:xfrm>
          <a:prstGeom prst="rect">
            <a:avLst/>
          </a:prstGeom>
          <a:noFill/>
          <a:ln/>
        </p:spPr>
        <p:txBody>
          <a:bodyPr wrap="square" lIns="0" tIns="0" rIns="0" bIns="0" rtlCol="0" anchor="t"/>
          <a:lstStyle/>
          <a:p>
            <a:pPr indent="0" marL="0">
              <a:spcAft>
                <a:spcPts val="500"/>
              </a:spcAft>
              <a:buNone/>
            </a:pPr>
            <a:r>
              <a:rPr lang="en-US" sz="1300" b="1" dirty="0">
                <a:solidFill>
                  <a:srgbClr val="0E3B43"/>
                </a:solidFill>
                <a:latin typeface="Calibri" pitchFamily="34" charset="0"/>
                <a:ea typeface="Calibri" pitchFamily="34" charset="-122"/>
                <a:cs typeface="Calibri" pitchFamily="34" charset="-120"/>
              </a:rPr>
              <a:t>Why verify six of them?</a:t>
            </a:r>
            <a:endParaRPr lang="en-US" sz="1100" dirty="0"/>
          </a:p>
          <a:p>
            <a:pPr indent="0" marL="0">
              <a:spcAft>
                <a:spcPts val="500"/>
              </a:spcAft>
              <a:buNone/>
            </a:pPr>
            <a:r>
              <a:rPr lang="en-US" sz="1100" b="1" dirty="0">
                <a:solidFill>
                  <a:srgbClr val="1B2A2F"/>
                </a:solidFill>
                <a:latin typeface="Calibri" pitchFamily="34" charset="0"/>
                <a:ea typeface="Calibri" pitchFamily="34" charset="-122"/>
                <a:cs typeface="Calibri" pitchFamily="34" charset="-120"/>
              </a:rPr>
              <a:t>Regional price: </a:t>
            </a:r>
            <a:pPr indent="0" marL="0">
              <a:spcAft>
                <a:spcPts val="500"/>
              </a:spcAft>
              <a:buNone/>
            </a:pPr>
            <a:r>
              <a:rPr lang="en-US" sz="1100" dirty="0">
                <a:solidFill>
                  <a:srgbClr val="1B2A2F"/>
                </a:solidFill>
                <a:latin typeface="Calibri" pitchFamily="34" charset="0"/>
                <a:ea typeface="Calibri" pitchFamily="34" charset="-122"/>
                <a:cs typeface="Calibri" pitchFamily="34" charset="-120"/>
              </a:rPr>
              <a:t>Winnebago, La Crosse, Brown (WI) and Olmsted (MN) share one survey price with 7–8 other counties.</a:t>
            </a:r>
            <a:endParaRPr lang="en-US" sz="1100" dirty="0"/>
          </a:p>
          <a:p>
            <a:pPr indent="0" marL="0">
              <a:spcAft>
                <a:spcPts val="500"/>
              </a:spcAft>
              <a:buNone/>
            </a:pPr>
            <a:r>
              <a:rPr lang="en-US" sz="1100" b="1" dirty="0">
                <a:solidFill>
                  <a:srgbClr val="1B2A2F"/>
                </a:solidFill>
                <a:latin typeface="Calibri" pitchFamily="34" charset="0"/>
                <a:ea typeface="Calibri" pitchFamily="34" charset="-122"/>
                <a:cs typeface="Calibri" pitchFamily="34" charset="-120"/>
              </a:rPr>
              <a:t>Extreme trend: </a:t>
            </a:r>
            <a:pPr indent="0" marL="0">
              <a:spcAft>
                <a:spcPts val="500"/>
              </a:spcAft>
              <a:buNone/>
            </a:pPr>
            <a:r>
              <a:rPr lang="en-US" sz="1100" dirty="0">
                <a:solidFill>
                  <a:srgbClr val="1B2A2F"/>
                </a:solidFill>
                <a:latin typeface="Calibri" pitchFamily="34" charset="0"/>
                <a:ea typeface="Calibri" pitchFamily="34" charset="-122"/>
                <a:cs typeface="Calibri" pitchFamily="34" charset="-120"/>
              </a:rPr>
              <a:t>Stearns (+77%) and McLean (+59%) prices rose faster 2018–22 than 99% of counties.</a:t>
            </a:r>
            <a:endParaRPr lang="en-US" sz="1100" dirty="0"/>
          </a:p>
        </p:txBody>
      </p:sp>
      <p:sp>
        <p:nvSpPr>
          <p:cNvPr id="6" name="Shape 3"/>
          <p:cNvSpPr/>
          <p:nvPr/>
        </p:nvSpPr>
        <p:spPr>
          <a:xfrm>
            <a:off x="5715000" y="2880360"/>
            <a:ext cx="2971800" cy="1828800"/>
          </a:xfrm>
          <a:prstGeom prst="roundRect">
            <a:avLst>
              <a:gd name="adj" fmla="val 4000"/>
            </a:avLst>
          </a:prstGeom>
          <a:solidFill>
            <a:srgbClr val="FFFFFF"/>
          </a:solidFill>
          <a:ln w="12700">
            <a:solidFill>
              <a:srgbClr val="FFFFFF"/>
            </a:solidFill>
            <a:prstDash val="solid"/>
          </a:ln>
        </p:spPr>
      </p:sp>
      <p:sp>
        <p:nvSpPr>
          <p:cNvPr id="7" name="Shape 4"/>
          <p:cNvSpPr/>
          <p:nvPr/>
        </p:nvSpPr>
        <p:spPr>
          <a:xfrm>
            <a:off x="5715000" y="2880360"/>
            <a:ext cx="2971800" cy="1828800"/>
          </a:xfrm>
          <a:prstGeom prst="roundRect">
            <a:avLst>
              <a:gd name="adj" fmla="val 4000"/>
            </a:avLst>
          </a:prstGeom>
          <a:solidFill>
            <a:srgbClr val="FFFFFF"/>
          </a:solidFill>
          <a:ln w="12700">
            <a:solidFill>
              <a:srgbClr val="D5E2E3"/>
            </a:solidFill>
            <a:prstDash val="solid"/>
          </a:ln>
        </p:spPr>
      </p:sp>
      <p:sp>
        <p:nvSpPr>
          <p:cNvPr id="8" name="Text 5"/>
          <p:cNvSpPr txBox="1"/>
          <p:nvPr/>
        </p:nvSpPr>
        <p:spPr>
          <a:xfrm>
            <a:off x="5852160" y="2971800"/>
            <a:ext cx="2697480" cy="1691640"/>
          </a:xfrm>
          <a:prstGeom prst="rect">
            <a:avLst/>
          </a:prstGeom>
          <a:noFill/>
          <a:ln/>
        </p:spPr>
        <p:txBody>
          <a:bodyPr wrap="square" lIns="0" tIns="0" rIns="0" bIns="0" rtlCol="0" anchor="t"/>
          <a:lstStyle/>
          <a:p>
            <a:pPr indent="0" marL="0">
              <a:spcAft>
                <a:spcPts val="400"/>
              </a:spcAft>
              <a:buNone/>
            </a:pPr>
            <a:r>
              <a:rPr lang="en-US" sz="1300" b="1" dirty="0">
                <a:solidFill>
                  <a:srgbClr val="0E3B43"/>
                </a:solidFill>
                <a:latin typeface="Calibri" pitchFamily="34" charset="0"/>
                <a:ea typeface="Calibri" pitchFamily="34" charset="-122"/>
                <a:cs typeface="Calibri" pitchFamily="34" charset="-120"/>
              </a:rPr>
              <a:t>High-confidence alternates</a:t>
            </a:r>
            <a:endParaRPr lang="en-US" sz="1200" dirty="0"/>
          </a:p>
          <a:p>
            <a:pPr marL="177800" indent="-177800">
              <a:spcAft>
                <a:spcPts val="400"/>
              </a:spcAft>
              <a:buSzPct val="100000"/>
              <a:buChar char="•"/>
            </a:pPr>
            <a:r>
              <a:rPr lang="en-US" sz="1200" dirty="0">
                <a:solidFill>
                  <a:srgbClr val="1B2A2F"/>
                </a:solidFill>
                <a:latin typeface="Calibri" pitchFamily="34" charset="0"/>
                <a:ea typeface="Calibri" pitchFamily="34" charset="-122"/>
                <a:cs typeface="Calibri" pitchFamily="34" charset="-120"/>
              </a:rPr>
              <a:t>Howard, MD  +$89</a:t>
            </a:r>
            <a:endParaRPr lang="en-US" sz="1200" dirty="0"/>
          </a:p>
          <a:p>
            <a:pPr marL="177800" indent="-177800">
              <a:spcAft>
                <a:spcPts val="400"/>
              </a:spcAft>
              <a:buSzPct val="100000"/>
              <a:buChar char="•"/>
            </a:pPr>
            <a:r>
              <a:rPr lang="en-US" sz="1200" dirty="0">
                <a:solidFill>
                  <a:srgbClr val="1B2A2F"/>
                </a:solidFill>
                <a:latin typeface="Calibri" pitchFamily="34" charset="0"/>
                <a:ea typeface="Calibri" pitchFamily="34" charset="-122"/>
                <a:cs typeface="Calibri" pitchFamily="34" charset="-120"/>
              </a:rPr>
              <a:t>Burlington, NJ  +$88</a:t>
            </a:r>
            <a:endParaRPr lang="en-US" sz="1200" dirty="0"/>
          </a:p>
          <a:p>
            <a:pPr marL="177800" indent="-177800">
              <a:spcAft>
                <a:spcPts val="400"/>
              </a:spcAft>
              <a:buSzPct val="100000"/>
              <a:buChar char="•"/>
            </a:pPr>
            <a:r>
              <a:rPr lang="en-US" sz="1200" dirty="0">
                <a:solidFill>
                  <a:srgbClr val="1B2A2F"/>
                </a:solidFill>
                <a:latin typeface="Calibri" pitchFamily="34" charset="0"/>
                <a:ea typeface="Calibri" pitchFamily="34" charset="-122"/>
                <a:cs typeface="Calibri" pitchFamily="34" charset="-120"/>
              </a:rPr>
              <a:t>DuPage, IL  +$86</a:t>
            </a:r>
            <a:endParaRPr lang="en-US" sz="1200" dirty="0"/>
          </a:p>
          <a:p>
            <a:pPr marL="177800" indent="-177800">
              <a:spcAft>
                <a:spcPts val="400"/>
              </a:spcAft>
              <a:buSzPct val="100000"/>
              <a:buChar char="•"/>
            </a:pPr>
            <a:r>
              <a:rPr lang="en-US" sz="1200" dirty="0">
                <a:solidFill>
                  <a:srgbClr val="1B2A2F"/>
                </a:solidFill>
                <a:latin typeface="Calibri" pitchFamily="34" charset="0"/>
                <a:ea typeface="Calibri" pitchFamily="34" charset="-122"/>
                <a:cs typeface="Calibri" pitchFamily="34" charset="-120"/>
              </a:rPr>
              <a:t>Gloucester, NJ  +$85</a:t>
            </a:r>
            <a:endParaRPr lang="en-US" sz="12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92608"/>
            <a:ext cx="8229600" cy="548640"/>
          </a:xfrm>
          <a:prstGeom prst="rect">
            <a:avLst/>
          </a:prstGeom>
          <a:noFill/>
          <a:ln/>
        </p:spPr>
        <p:txBody>
          <a:bodyPr wrap="square" lIns="0" tIns="0" rIns="0" bIns="0" rtlCol="0" anchor="t"/>
          <a:lstStyle/>
          <a:p>
            <a:pPr algn="l" indent="0" marL="0">
              <a:buNone/>
            </a:pPr>
            <a:r>
              <a:rPr lang="en-US" sz="2200" b="1" dirty="0">
                <a:solidFill>
                  <a:srgbClr val="0E3B43"/>
                </a:solidFill>
                <a:latin typeface="Cambria" pitchFamily="34" charset="0"/>
                <a:ea typeface="Cambria" pitchFamily="34" charset="-122"/>
                <a:cs typeface="Cambria" pitchFamily="34" charset="-120"/>
              </a:rPr>
              <a:t>We rank counties by how far price exceeds what costs predict</a:t>
            </a:r>
            <a:endParaRPr lang="en-US" sz="2200" dirty="0"/>
          </a:p>
        </p:txBody>
      </p:sp>
      <p:sp>
        <p:nvSpPr>
          <p:cNvPr id="3" name="Shape 1"/>
          <p:cNvSpPr/>
          <p:nvPr/>
        </p:nvSpPr>
        <p:spPr>
          <a:xfrm>
            <a:off x="457200" y="960120"/>
            <a:ext cx="1920240" cy="1874520"/>
          </a:xfrm>
          <a:prstGeom prst="roundRect">
            <a:avLst>
              <a:gd name="adj" fmla="val 3902"/>
            </a:avLst>
          </a:prstGeom>
          <a:solidFill>
            <a:srgbClr val="EAF3F3"/>
          </a:solidFill>
          <a:ln w="12700">
            <a:solidFill>
              <a:srgbClr val="EAF3F3"/>
            </a:solidFill>
            <a:prstDash val="solid"/>
          </a:ln>
        </p:spPr>
      </p:sp>
      <p:sp>
        <p:nvSpPr>
          <p:cNvPr id="4" name="Shape 2"/>
          <p:cNvSpPr/>
          <p:nvPr/>
        </p:nvSpPr>
        <p:spPr>
          <a:xfrm>
            <a:off x="594360" y="1069848"/>
            <a:ext cx="384048" cy="384048"/>
          </a:xfrm>
          <a:prstGeom prst="ellipse">
            <a:avLst/>
          </a:prstGeom>
          <a:solidFill>
            <a:srgbClr val="1F6F78"/>
          </a:solidFill>
          <a:ln w="12700">
            <a:solidFill>
              <a:srgbClr val="1F6F78"/>
            </a:solidFill>
            <a:prstDash val="solid"/>
          </a:ln>
        </p:spPr>
      </p:sp>
      <p:sp>
        <p:nvSpPr>
          <p:cNvPr id="5" name="Text 3"/>
          <p:cNvSpPr txBox="1"/>
          <p:nvPr/>
        </p:nvSpPr>
        <p:spPr>
          <a:xfrm>
            <a:off x="594360" y="1069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051560" y="1069848"/>
            <a:ext cx="1280160" cy="384048"/>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Cost model</a:t>
            </a:r>
            <a:endParaRPr lang="en-US" sz="1400" dirty="0"/>
          </a:p>
        </p:txBody>
      </p:sp>
      <p:sp>
        <p:nvSpPr>
          <p:cNvPr id="7" name="Text 5"/>
          <p:cNvSpPr txBox="1"/>
          <p:nvPr/>
        </p:nvSpPr>
        <p:spPr>
          <a:xfrm>
            <a:off x="594360" y="1536192"/>
            <a:ext cx="1664208" cy="8686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Price = a + 7.09 × wage ($1k) + 5.91 × rent ($100)</a:t>
            </a:r>
            <a:endParaRPr lang="en-US" sz="1100" dirty="0"/>
          </a:p>
        </p:txBody>
      </p:sp>
      <p:sp>
        <p:nvSpPr>
          <p:cNvPr id="8" name="Text 6"/>
          <p:cNvSpPr txBox="1"/>
          <p:nvPr/>
        </p:nvSpPr>
        <p:spPr>
          <a:xfrm>
            <a:off x="594360" y="2395728"/>
            <a:ext cx="1664208" cy="365760"/>
          </a:xfrm>
          <a:prstGeom prst="rect">
            <a:avLst/>
          </a:prstGeom>
          <a:noFill/>
          <a:ln/>
        </p:spPr>
        <p:txBody>
          <a:bodyPr wrap="square" lIns="0" tIns="0" rIns="0" bIns="0" rtlCol="0" anchor="t"/>
          <a:lstStyle/>
          <a:p>
            <a:pPr indent="0" marL="0">
              <a:buNone/>
            </a:pPr>
            <a:r>
              <a:rPr lang="en-US" sz="1000" i="1" dirty="0">
                <a:solidFill>
                  <a:srgbClr val="1F6F78"/>
                </a:solidFill>
                <a:latin typeface="Calibri" pitchFamily="34" charset="0"/>
                <a:ea typeface="Calibri" pitchFamily="34" charset="-122"/>
                <a:cs typeface="Calibri" pitchFamily="34" charset="-120"/>
              </a:rPr>
              <a:t>R² = 0.61, re-estimated every year</a:t>
            </a:r>
            <a:endParaRPr lang="en-US" sz="1000" dirty="0"/>
          </a:p>
        </p:txBody>
      </p:sp>
      <p:sp>
        <p:nvSpPr>
          <p:cNvPr id="9" name="Shape 7"/>
          <p:cNvSpPr/>
          <p:nvPr/>
        </p:nvSpPr>
        <p:spPr>
          <a:xfrm>
            <a:off x="2542032" y="960120"/>
            <a:ext cx="1920240" cy="1874520"/>
          </a:xfrm>
          <a:prstGeom prst="roundRect">
            <a:avLst>
              <a:gd name="adj" fmla="val 3902"/>
            </a:avLst>
          </a:prstGeom>
          <a:solidFill>
            <a:srgbClr val="EAF3F3"/>
          </a:solidFill>
          <a:ln w="12700">
            <a:solidFill>
              <a:srgbClr val="EAF3F3"/>
            </a:solidFill>
            <a:prstDash val="solid"/>
          </a:ln>
        </p:spPr>
      </p:sp>
      <p:sp>
        <p:nvSpPr>
          <p:cNvPr id="10" name="Shape 8"/>
          <p:cNvSpPr/>
          <p:nvPr/>
        </p:nvSpPr>
        <p:spPr>
          <a:xfrm>
            <a:off x="2679192" y="1069848"/>
            <a:ext cx="384048" cy="384048"/>
          </a:xfrm>
          <a:prstGeom prst="ellipse">
            <a:avLst/>
          </a:prstGeom>
          <a:solidFill>
            <a:srgbClr val="1F6F78"/>
          </a:solidFill>
          <a:ln w="12700">
            <a:solidFill>
              <a:srgbClr val="1F6F78"/>
            </a:solidFill>
            <a:prstDash val="solid"/>
          </a:ln>
        </p:spPr>
      </p:sp>
      <p:sp>
        <p:nvSpPr>
          <p:cNvPr id="11" name="Text 9"/>
          <p:cNvSpPr txBox="1"/>
          <p:nvPr/>
        </p:nvSpPr>
        <p:spPr>
          <a:xfrm>
            <a:off x="2679192" y="1069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3136392" y="1069848"/>
            <a:ext cx="1280160" cy="384048"/>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Premium</a:t>
            </a:r>
            <a:endParaRPr lang="en-US" sz="1400" dirty="0"/>
          </a:p>
        </p:txBody>
      </p:sp>
      <p:sp>
        <p:nvSpPr>
          <p:cNvPr id="13" name="Text 11"/>
          <p:cNvSpPr txBox="1"/>
          <p:nvPr/>
        </p:nvSpPr>
        <p:spPr>
          <a:xfrm>
            <a:off x="2679192" y="1536192"/>
            <a:ext cx="1664208" cy="8686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Actual price − predicted price</a:t>
            </a:r>
            <a:endParaRPr lang="en-US" sz="1100" dirty="0"/>
          </a:p>
        </p:txBody>
      </p:sp>
      <p:sp>
        <p:nvSpPr>
          <p:cNvPr id="14" name="Text 12"/>
          <p:cNvSpPr txBox="1"/>
          <p:nvPr/>
        </p:nvSpPr>
        <p:spPr>
          <a:xfrm>
            <a:off x="2679192" y="2395728"/>
            <a:ext cx="1664208" cy="365760"/>
          </a:xfrm>
          <a:prstGeom prst="rect">
            <a:avLst/>
          </a:prstGeom>
          <a:noFill/>
          <a:ln/>
        </p:spPr>
        <p:txBody>
          <a:bodyPr wrap="square" lIns="0" tIns="0" rIns="0" bIns="0" rtlCol="0" anchor="t"/>
          <a:lstStyle/>
          <a:p>
            <a:pPr indent="0" marL="0">
              <a:buNone/>
            </a:pPr>
            <a:r>
              <a:rPr lang="en-US" sz="1000" i="1" dirty="0">
                <a:solidFill>
                  <a:srgbClr val="1F6F78"/>
                </a:solidFill>
                <a:latin typeface="Calibri" pitchFamily="34" charset="0"/>
                <a:ea typeface="Calibri" pitchFamily="34" charset="-122"/>
                <a:cs typeface="Calibri" pitchFamily="34" charset="-120"/>
              </a:rPr>
              <a:t>$/week, 2022 dollars</a:t>
            </a:r>
            <a:endParaRPr lang="en-US" sz="1000" dirty="0"/>
          </a:p>
        </p:txBody>
      </p:sp>
      <p:sp>
        <p:nvSpPr>
          <p:cNvPr id="15" name="Shape 13"/>
          <p:cNvSpPr/>
          <p:nvPr/>
        </p:nvSpPr>
        <p:spPr>
          <a:xfrm>
            <a:off x="4626864" y="960120"/>
            <a:ext cx="1920240" cy="1874520"/>
          </a:xfrm>
          <a:prstGeom prst="roundRect">
            <a:avLst>
              <a:gd name="adj" fmla="val 3902"/>
            </a:avLst>
          </a:prstGeom>
          <a:solidFill>
            <a:srgbClr val="EAF3F3"/>
          </a:solidFill>
          <a:ln w="12700">
            <a:solidFill>
              <a:srgbClr val="EAF3F3"/>
            </a:solidFill>
            <a:prstDash val="solid"/>
          </a:ln>
        </p:spPr>
      </p:sp>
      <p:sp>
        <p:nvSpPr>
          <p:cNvPr id="16" name="Shape 14"/>
          <p:cNvSpPr/>
          <p:nvPr/>
        </p:nvSpPr>
        <p:spPr>
          <a:xfrm>
            <a:off x="4764024" y="1069848"/>
            <a:ext cx="384048" cy="384048"/>
          </a:xfrm>
          <a:prstGeom prst="ellipse">
            <a:avLst/>
          </a:prstGeom>
          <a:solidFill>
            <a:srgbClr val="1F6F78"/>
          </a:solidFill>
          <a:ln w="12700">
            <a:solidFill>
              <a:srgbClr val="1F6F78"/>
            </a:solidFill>
            <a:prstDash val="solid"/>
          </a:ln>
        </p:spPr>
      </p:sp>
      <p:sp>
        <p:nvSpPr>
          <p:cNvPr id="17" name="Text 15"/>
          <p:cNvSpPr txBox="1"/>
          <p:nvPr/>
        </p:nvSpPr>
        <p:spPr>
          <a:xfrm>
            <a:off x="4764024" y="1069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5221224" y="1069848"/>
            <a:ext cx="1280160" cy="384048"/>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Screens</a:t>
            </a:r>
            <a:endParaRPr lang="en-US" sz="1400" dirty="0"/>
          </a:p>
        </p:txBody>
      </p:sp>
      <p:sp>
        <p:nvSpPr>
          <p:cNvPr id="19" name="Text 17"/>
          <p:cNvSpPr txBox="1"/>
          <p:nvPr/>
        </p:nvSpPr>
        <p:spPr>
          <a:xfrm>
            <a:off x="4764024" y="1536192"/>
            <a:ext cx="1664208" cy="8686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 5,000 children under 6 with working parents; premium &gt; 0 every year 2019–22</a:t>
            </a:r>
            <a:endParaRPr lang="en-US" sz="1100" dirty="0"/>
          </a:p>
        </p:txBody>
      </p:sp>
      <p:sp>
        <p:nvSpPr>
          <p:cNvPr id="20" name="Text 18"/>
          <p:cNvSpPr txBox="1"/>
          <p:nvPr/>
        </p:nvSpPr>
        <p:spPr>
          <a:xfrm>
            <a:off x="4764024" y="2395728"/>
            <a:ext cx="1664208" cy="365760"/>
          </a:xfrm>
          <a:prstGeom prst="rect">
            <a:avLst/>
          </a:prstGeom>
          <a:noFill/>
          <a:ln/>
        </p:spPr>
        <p:txBody>
          <a:bodyPr wrap="square" lIns="0" tIns="0" rIns="0" bIns="0" rtlCol="0" anchor="t"/>
          <a:lstStyle/>
          <a:p>
            <a:pPr indent="0" marL="0">
              <a:buNone/>
            </a:pPr>
            <a:r>
              <a:rPr lang="en-US" sz="1000" i="1" dirty="0">
                <a:solidFill>
                  <a:srgbClr val="1F6F78"/>
                </a:solidFill>
                <a:latin typeface="Calibri" pitchFamily="34" charset="0"/>
                <a:ea typeface="Calibri" pitchFamily="34" charset="-122"/>
                <a:cs typeface="Calibri" pitchFamily="34" charset="-120"/>
              </a:rPr>
              <a:t>998 → 155 counties</a:t>
            </a:r>
            <a:endParaRPr lang="en-US" sz="1000" dirty="0"/>
          </a:p>
        </p:txBody>
      </p:sp>
      <p:sp>
        <p:nvSpPr>
          <p:cNvPr id="21" name="Shape 19"/>
          <p:cNvSpPr/>
          <p:nvPr/>
        </p:nvSpPr>
        <p:spPr>
          <a:xfrm>
            <a:off x="6711696" y="960120"/>
            <a:ext cx="1920240" cy="1874520"/>
          </a:xfrm>
          <a:prstGeom prst="roundRect">
            <a:avLst>
              <a:gd name="adj" fmla="val 3902"/>
            </a:avLst>
          </a:prstGeom>
          <a:solidFill>
            <a:srgbClr val="EAF3F3"/>
          </a:solidFill>
          <a:ln w="12700">
            <a:solidFill>
              <a:srgbClr val="EAF3F3"/>
            </a:solidFill>
            <a:prstDash val="solid"/>
          </a:ln>
        </p:spPr>
      </p:sp>
      <p:sp>
        <p:nvSpPr>
          <p:cNvPr id="22" name="Shape 20"/>
          <p:cNvSpPr/>
          <p:nvPr/>
        </p:nvSpPr>
        <p:spPr>
          <a:xfrm>
            <a:off x="6848856" y="1069848"/>
            <a:ext cx="384048" cy="384048"/>
          </a:xfrm>
          <a:prstGeom prst="ellipse">
            <a:avLst/>
          </a:prstGeom>
          <a:solidFill>
            <a:srgbClr val="1F6F78"/>
          </a:solidFill>
          <a:ln w="12700">
            <a:solidFill>
              <a:srgbClr val="1F6F78"/>
            </a:solidFill>
            <a:prstDash val="solid"/>
          </a:ln>
        </p:spPr>
      </p:sp>
      <p:sp>
        <p:nvSpPr>
          <p:cNvPr id="23" name="Text 21"/>
          <p:cNvSpPr txBox="1"/>
          <p:nvPr/>
        </p:nvSpPr>
        <p:spPr>
          <a:xfrm>
            <a:off x="6848856" y="1069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4" name="Text 22"/>
          <p:cNvSpPr txBox="1"/>
          <p:nvPr/>
        </p:nvSpPr>
        <p:spPr>
          <a:xfrm>
            <a:off x="7306056" y="1069848"/>
            <a:ext cx="1280160" cy="384048"/>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Rank + flag</a:t>
            </a:r>
            <a:endParaRPr lang="en-US" sz="1400" dirty="0"/>
          </a:p>
        </p:txBody>
      </p:sp>
      <p:sp>
        <p:nvSpPr>
          <p:cNvPr id="25" name="Text 23"/>
          <p:cNvSpPr txBox="1"/>
          <p:nvPr/>
        </p:nvSpPr>
        <p:spPr>
          <a:xfrm>
            <a:off x="6848856" y="1536192"/>
            <a:ext cx="1664208" cy="868680"/>
          </a:xfrm>
          <a:prstGeom prst="rect">
            <a:avLst/>
          </a:prstGeom>
          <a:noFill/>
          <a:ln/>
        </p:spPr>
        <p:txBody>
          <a:bodyPr wrap="square" lIns="0" tIns="0" rIns="0" bIns="0" rtlCol="0" anchor="t"/>
          <a:lstStyle/>
          <a:p>
            <a:pPr indent="0" marL="0">
              <a:buNone/>
            </a:pPr>
            <a:r>
              <a:rPr lang="en-US" sz="1100" dirty="0">
                <a:solidFill>
                  <a:srgbClr val="1B2A2F"/>
                </a:solidFill>
                <a:latin typeface="Calibri" pitchFamily="34" charset="0"/>
                <a:ea typeface="Calibri" pitchFamily="34" charset="-122"/>
                <a:cs typeface="Calibri" pitchFamily="34" charset="-120"/>
              </a:rPr>
              <a:t>Order by 2022 premium; flag regional prices and extreme trends</a:t>
            </a:r>
            <a:endParaRPr lang="en-US" sz="1100" dirty="0"/>
          </a:p>
        </p:txBody>
      </p:sp>
      <p:sp>
        <p:nvSpPr>
          <p:cNvPr id="26" name="Text 24"/>
          <p:cNvSpPr txBox="1"/>
          <p:nvPr/>
        </p:nvSpPr>
        <p:spPr>
          <a:xfrm>
            <a:off x="6848856" y="2395728"/>
            <a:ext cx="1664208" cy="365760"/>
          </a:xfrm>
          <a:prstGeom prst="rect">
            <a:avLst/>
          </a:prstGeom>
          <a:noFill/>
          <a:ln/>
        </p:spPr>
        <p:txBody>
          <a:bodyPr wrap="square" lIns="0" tIns="0" rIns="0" bIns="0" rtlCol="0" anchor="t"/>
          <a:lstStyle/>
          <a:p>
            <a:pPr indent="0" marL="0">
              <a:buNone/>
            </a:pPr>
            <a:r>
              <a:rPr lang="en-US" sz="1000" i="1" dirty="0">
                <a:solidFill>
                  <a:srgbClr val="1F6F78"/>
                </a:solidFill>
                <a:latin typeface="Calibri" pitchFamily="34" charset="0"/>
                <a:ea typeface="Calibri" pitchFamily="34" charset="-122"/>
                <a:cs typeface="Calibri" pitchFamily="34" charset="-120"/>
              </a:rPr>
              <a:t>Top 10 + confidence tier</a:t>
            </a:r>
            <a:endParaRPr lang="en-US" sz="1000" dirty="0"/>
          </a:p>
        </p:txBody>
      </p:sp>
      <p:sp>
        <p:nvSpPr>
          <p:cNvPr id="27" name="Text 25"/>
          <p:cNvSpPr txBox="1"/>
          <p:nvPr/>
        </p:nvSpPr>
        <p:spPr>
          <a:xfrm>
            <a:off x="457200" y="3017520"/>
            <a:ext cx="8229600" cy="274320"/>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How reliable is it?</a:t>
            </a:r>
            <a:endParaRPr lang="en-US" sz="1400" dirty="0"/>
          </a:p>
        </p:txBody>
      </p:sp>
      <p:sp>
        <p:nvSpPr>
          <p:cNvPr id="28" name="Text 26"/>
          <p:cNvSpPr txBox="1"/>
          <p:nvPr/>
        </p:nvSpPr>
        <p:spPr>
          <a:xfrm>
            <a:off x="457200" y="3364992"/>
            <a:ext cx="1920240" cy="548640"/>
          </a:xfrm>
          <a:prstGeom prst="rect">
            <a:avLst/>
          </a:prstGeom>
          <a:noFill/>
          <a:ln/>
        </p:spPr>
        <p:txBody>
          <a:bodyPr wrap="square" lIns="0" tIns="0" rIns="0" bIns="0" rtlCol="0" anchor="ctr"/>
          <a:lstStyle/>
          <a:p>
            <a:pPr indent="0" marL="0">
              <a:buNone/>
            </a:pPr>
            <a:r>
              <a:rPr lang="en-US" sz="2800" b="1" dirty="0">
                <a:solidFill>
                  <a:srgbClr val="E8613C"/>
                </a:solidFill>
                <a:latin typeface="Cambria" pitchFamily="34" charset="0"/>
                <a:ea typeface="Cambria" pitchFamily="34" charset="-122"/>
                <a:cs typeface="Cambria" pitchFamily="34" charset="-120"/>
              </a:rPr>
              <a:t>0.88</a:t>
            </a:r>
            <a:endParaRPr lang="en-US" sz="2800" dirty="0"/>
          </a:p>
        </p:txBody>
      </p:sp>
      <p:sp>
        <p:nvSpPr>
          <p:cNvPr id="29" name="Text 27"/>
          <p:cNvSpPr txBox="1"/>
          <p:nvPr/>
        </p:nvSpPr>
        <p:spPr>
          <a:xfrm>
            <a:off x="457200" y="3931920"/>
            <a:ext cx="1874520" cy="640080"/>
          </a:xfrm>
          <a:prstGeom prst="rect">
            <a:avLst/>
          </a:prstGeom>
          <a:noFill/>
          <a:ln/>
        </p:spPr>
        <p:txBody>
          <a:bodyPr wrap="square" lIns="0" tIns="0" rIns="0" bIns="0" rtlCol="0" anchor="t"/>
          <a:lstStyle/>
          <a:p>
            <a:pPr indent="0" marL="0">
              <a:buNone/>
            </a:pPr>
            <a:r>
              <a:rPr lang="en-US" sz="1100" dirty="0">
                <a:solidFill>
                  <a:srgbClr val="4F5D62"/>
                </a:solidFill>
                <a:latin typeface="Calibri" pitchFamily="34" charset="0"/>
                <a:ea typeface="Calibri" pitchFamily="34" charset="-122"/>
                <a:cs typeface="Calibri" pitchFamily="34" charset="-120"/>
              </a:rPr>
              <a:t>2019 premium predicts 2022 premium (slope)</a:t>
            </a:r>
            <a:endParaRPr lang="en-US" sz="1100" dirty="0"/>
          </a:p>
        </p:txBody>
      </p:sp>
      <p:sp>
        <p:nvSpPr>
          <p:cNvPr id="30" name="Text 28"/>
          <p:cNvSpPr txBox="1"/>
          <p:nvPr/>
        </p:nvSpPr>
        <p:spPr>
          <a:xfrm>
            <a:off x="2542032" y="3364992"/>
            <a:ext cx="1920240" cy="548640"/>
          </a:xfrm>
          <a:prstGeom prst="rect">
            <a:avLst/>
          </a:prstGeom>
          <a:noFill/>
          <a:ln/>
        </p:spPr>
        <p:txBody>
          <a:bodyPr wrap="square" lIns="0" tIns="0" rIns="0" bIns="0" rtlCol="0" anchor="ctr"/>
          <a:lstStyle/>
          <a:p>
            <a:pPr indent="0" marL="0">
              <a:buNone/>
            </a:pPr>
            <a:r>
              <a:rPr lang="en-US" sz="2800" b="1" dirty="0">
                <a:solidFill>
                  <a:srgbClr val="E8613C"/>
                </a:solidFill>
                <a:latin typeface="Cambria" pitchFamily="34" charset="0"/>
                <a:ea typeface="Cambria" pitchFamily="34" charset="-122"/>
                <a:cs typeface="Cambria" pitchFamily="34" charset="-120"/>
              </a:rPr>
              <a:t>0.98</a:t>
            </a:r>
            <a:endParaRPr lang="en-US" sz="2800" dirty="0"/>
          </a:p>
        </p:txBody>
      </p:sp>
      <p:sp>
        <p:nvSpPr>
          <p:cNvPr id="31" name="Text 29"/>
          <p:cNvSpPr txBox="1"/>
          <p:nvPr/>
        </p:nvSpPr>
        <p:spPr>
          <a:xfrm>
            <a:off x="2542032" y="3931920"/>
            <a:ext cx="1874520" cy="640080"/>
          </a:xfrm>
          <a:prstGeom prst="rect">
            <a:avLst/>
          </a:prstGeom>
          <a:noFill/>
          <a:ln/>
        </p:spPr>
        <p:txBody>
          <a:bodyPr wrap="square" lIns="0" tIns="0" rIns="0" bIns="0" rtlCol="0" anchor="t"/>
          <a:lstStyle/>
          <a:p>
            <a:pPr indent="0" marL="0">
              <a:buNone/>
            </a:pPr>
            <a:r>
              <a:rPr lang="en-US" sz="1100" dirty="0">
                <a:solidFill>
                  <a:srgbClr val="4F5D62"/>
                </a:solidFill>
                <a:latin typeface="Calibri" pitchFamily="34" charset="0"/>
                <a:ea typeface="Calibri" pitchFamily="34" charset="-122"/>
                <a:cs typeface="Calibri" pitchFamily="34" charset="-120"/>
              </a:rPr>
              <a:t>rank agreement with a log-price model</a:t>
            </a:r>
            <a:endParaRPr lang="en-US" sz="1100" dirty="0"/>
          </a:p>
        </p:txBody>
      </p:sp>
      <p:sp>
        <p:nvSpPr>
          <p:cNvPr id="32" name="Text 30"/>
          <p:cNvSpPr txBox="1"/>
          <p:nvPr/>
        </p:nvSpPr>
        <p:spPr>
          <a:xfrm>
            <a:off x="4626864" y="3364992"/>
            <a:ext cx="1920240" cy="548640"/>
          </a:xfrm>
          <a:prstGeom prst="rect">
            <a:avLst/>
          </a:prstGeom>
          <a:noFill/>
          <a:ln/>
        </p:spPr>
        <p:txBody>
          <a:bodyPr wrap="square" lIns="0" tIns="0" rIns="0" bIns="0" rtlCol="0" anchor="ctr"/>
          <a:lstStyle/>
          <a:p>
            <a:pPr indent="0" marL="0">
              <a:buNone/>
            </a:pPr>
            <a:r>
              <a:rPr lang="en-US" sz="2800" b="1" dirty="0">
                <a:solidFill>
                  <a:srgbClr val="E8613C"/>
                </a:solidFill>
                <a:latin typeface="Cambria" pitchFamily="34" charset="0"/>
                <a:ea typeface="Cambria" pitchFamily="34" charset="-122"/>
                <a:cs typeface="Cambria" pitchFamily="34" charset="-120"/>
              </a:rPr>
              <a:t>0.56–0.67</a:t>
            </a:r>
            <a:endParaRPr lang="en-US" sz="2800" dirty="0"/>
          </a:p>
        </p:txBody>
      </p:sp>
      <p:sp>
        <p:nvSpPr>
          <p:cNvPr id="33" name="Text 31"/>
          <p:cNvSpPr txBox="1"/>
          <p:nvPr/>
        </p:nvSpPr>
        <p:spPr>
          <a:xfrm>
            <a:off x="4626864" y="3931920"/>
            <a:ext cx="1874520" cy="640080"/>
          </a:xfrm>
          <a:prstGeom prst="rect">
            <a:avLst/>
          </a:prstGeom>
          <a:noFill/>
          <a:ln/>
        </p:spPr>
        <p:txBody>
          <a:bodyPr wrap="square" lIns="0" tIns="0" rIns="0" bIns="0" rtlCol="0" anchor="t"/>
          <a:lstStyle/>
          <a:p>
            <a:pPr indent="0" marL="0">
              <a:buNone/>
            </a:pPr>
            <a:r>
              <a:rPr lang="en-US" sz="1100" dirty="0">
                <a:solidFill>
                  <a:srgbClr val="4F5D62"/>
                </a:solidFill>
                <a:latin typeface="Calibri" pitchFamily="34" charset="0"/>
                <a:ea typeface="Calibri" pitchFamily="34" charset="-122"/>
                <a:cs typeface="Calibri" pitchFamily="34" charset="-120"/>
              </a:rPr>
              <a:t>cost-model R² in every year 2015–22</a:t>
            </a:r>
            <a:endParaRPr lang="en-US" sz="1100" dirty="0"/>
          </a:p>
        </p:txBody>
      </p:sp>
      <p:sp>
        <p:nvSpPr>
          <p:cNvPr id="34" name="Text 32"/>
          <p:cNvSpPr txBox="1"/>
          <p:nvPr/>
        </p:nvSpPr>
        <p:spPr>
          <a:xfrm>
            <a:off x="6711696" y="3364992"/>
            <a:ext cx="1920240" cy="548640"/>
          </a:xfrm>
          <a:prstGeom prst="rect">
            <a:avLst/>
          </a:prstGeom>
          <a:noFill/>
          <a:ln/>
        </p:spPr>
        <p:txBody>
          <a:bodyPr wrap="square" lIns="0" tIns="0" rIns="0" bIns="0" rtlCol="0" anchor="ctr"/>
          <a:lstStyle/>
          <a:p>
            <a:pPr indent="0" marL="0">
              <a:buNone/>
            </a:pPr>
            <a:r>
              <a:rPr lang="en-US" sz="2800" b="1" dirty="0">
                <a:solidFill>
                  <a:srgbClr val="E9A23B"/>
                </a:solidFill>
                <a:latin typeface="Cambria" pitchFamily="34" charset="0"/>
                <a:ea typeface="Cambria" pitchFamily="34" charset="-122"/>
                <a:cs typeface="Cambria" pitchFamily="34" charset="-120"/>
              </a:rPr>
              <a:t>43%</a:t>
            </a:r>
            <a:endParaRPr lang="en-US" sz="2800" dirty="0"/>
          </a:p>
        </p:txBody>
      </p:sp>
      <p:sp>
        <p:nvSpPr>
          <p:cNvPr id="35" name="Text 33"/>
          <p:cNvSpPr txBox="1"/>
          <p:nvPr/>
        </p:nvSpPr>
        <p:spPr>
          <a:xfrm>
            <a:off x="6711696" y="3931920"/>
            <a:ext cx="1874520" cy="640080"/>
          </a:xfrm>
          <a:prstGeom prst="rect">
            <a:avLst/>
          </a:prstGeom>
          <a:noFill/>
          <a:ln/>
        </p:spPr>
        <p:txBody>
          <a:bodyPr wrap="square" lIns="0" tIns="0" rIns="0" bIns="0" rtlCol="0" anchor="t"/>
          <a:lstStyle/>
          <a:p>
            <a:pPr indent="0" marL="0">
              <a:buNone/>
            </a:pPr>
            <a:r>
              <a:rPr lang="en-US" sz="1100" dirty="0">
                <a:solidFill>
                  <a:srgbClr val="4F5D62"/>
                </a:solidFill>
                <a:latin typeface="Calibri" pitchFamily="34" charset="0"/>
                <a:ea typeface="Calibri" pitchFamily="34" charset="-122"/>
                <a:cs typeface="Calibri" pitchFamily="34" charset="-120"/>
              </a:rPr>
              <a:t>of premium variation is between states (regional survey prices)</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92608"/>
            <a:ext cx="8229600" cy="548640"/>
          </a:xfrm>
          <a:prstGeom prst="rect">
            <a:avLst/>
          </a:prstGeom>
          <a:noFill/>
          <a:ln/>
        </p:spPr>
        <p:txBody>
          <a:bodyPr wrap="square" lIns="0" tIns="0" rIns="0" bIns="0" rtlCol="0" anchor="t"/>
          <a:lstStyle/>
          <a:p>
            <a:pPr algn="l" indent="0" marL="0">
              <a:buNone/>
            </a:pPr>
            <a:r>
              <a:rPr lang="en-US" sz="2200" b="1" dirty="0">
                <a:solidFill>
                  <a:srgbClr val="0E3B43"/>
                </a:solidFill>
                <a:latin typeface="Cambria" pitchFamily="34" charset="0"/>
                <a:ea typeface="Cambria" pitchFamily="34" charset="-122"/>
                <a:cs typeface="Cambria" pitchFamily="34" charset="-120"/>
              </a:rPr>
              <a:t>Winning markets: affluent, educated, dual-earner counties</a:t>
            </a:r>
            <a:endParaRPr lang="en-US" sz="2200" dirty="0"/>
          </a:p>
        </p:txBody>
      </p:sp>
      <p:sp>
        <p:nvSpPr>
          <p:cNvPr id="3" name="Text 1"/>
          <p:cNvSpPr txBox="1"/>
          <p:nvPr/>
        </p:nvSpPr>
        <p:spPr>
          <a:xfrm>
            <a:off x="457200" y="914400"/>
            <a:ext cx="3840480" cy="274320"/>
          </a:xfrm>
          <a:prstGeom prst="rect">
            <a:avLst/>
          </a:prstGeom>
          <a:noFill/>
          <a:ln/>
        </p:spPr>
        <p:txBody>
          <a:bodyPr wrap="square" lIns="0" tIns="0" rIns="0" bIns="0" rtlCol="0" anchor="ctr"/>
          <a:lstStyle/>
          <a:p>
            <a:pPr indent="0" marL="0">
              <a:buNone/>
            </a:pPr>
            <a:r>
              <a:rPr lang="en-US" sz="1400" b="1" dirty="0">
                <a:solidFill>
                  <a:srgbClr val="0E3B43"/>
                </a:solidFill>
                <a:latin typeface="Cambria" pitchFamily="34" charset="0"/>
                <a:ea typeface="Cambria" pitchFamily="34" charset="-122"/>
                <a:cs typeface="Cambria" pitchFamily="34" charset="-120"/>
              </a:rPr>
              <a:t>Characteristics we use to pick locations</a:t>
            </a:r>
            <a:endParaRPr lang="en-US" sz="1400" dirty="0"/>
          </a:p>
        </p:txBody>
      </p:sp>
      <p:sp>
        <p:nvSpPr>
          <p:cNvPr id="4" name="Shape 2"/>
          <p:cNvSpPr/>
          <p:nvPr/>
        </p:nvSpPr>
        <p:spPr>
          <a:xfrm>
            <a:off x="457200" y="1298448"/>
            <a:ext cx="384048" cy="384048"/>
          </a:xfrm>
          <a:prstGeom prst="ellipse">
            <a:avLst/>
          </a:prstGeom>
          <a:solidFill>
            <a:srgbClr val="E8613C"/>
          </a:solidFill>
          <a:ln w="12700">
            <a:solidFill>
              <a:srgbClr val="E8613C"/>
            </a:solidFill>
            <a:prstDash val="solid"/>
          </a:ln>
        </p:spPr>
      </p:sp>
      <p:sp>
        <p:nvSpPr>
          <p:cNvPr id="5" name="Text 3"/>
          <p:cNvSpPr txBox="1"/>
          <p:nvPr/>
        </p:nvSpPr>
        <p:spPr>
          <a:xfrm>
            <a:off x="457200" y="12984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960120" y="1252728"/>
            <a:ext cx="3291840" cy="548640"/>
          </a:xfrm>
          <a:prstGeom prst="rect">
            <a:avLst/>
          </a:prstGeom>
          <a:noFill/>
          <a:ln/>
        </p:spPr>
        <p:txBody>
          <a:bodyPr wrap="square" lIns="0" tIns="0" rIns="0" bIns="0" rtlCol="0" anchor="t"/>
          <a:lstStyle/>
          <a:p>
            <a:pPr indent="0" marL="0">
              <a:buNone/>
            </a:pPr>
            <a:r>
              <a:rPr lang="en-US" sz="1300" b="1" dirty="0">
                <a:solidFill>
                  <a:srgbClr val="1B2A2F"/>
                </a:solidFill>
                <a:latin typeface="Calibri" pitchFamily="34" charset="0"/>
                <a:ea typeface="Calibri" pitchFamily="34" charset="-122"/>
                <a:cs typeface="Calibri" pitchFamily="34" charset="-120"/>
              </a:rPr>
              <a:t>Price premium over costs</a:t>
            </a:r>
            <a:endParaRPr lang="en-US" sz="1300" dirty="0"/>
          </a:p>
          <a:p>
            <a:pPr indent="0" marL="0">
              <a:buNone/>
            </a:pPr>
            <a:r>
              <a:rPr lang="en-US" sz="1100" dirty="0">
                <a:solidFill>
                  <a:srgbClr val="4F5D62"/>
                </a:solidFill>
                <a:latin typeface="Calibri" pitchFamily="34" charset="0"/>
                <a:ea typeface="Calibri" pitchFamily="34" charset="-122"/>
                <a:cs typeface="Calibri" pitchFamily="34" charset="-120"/>
              </a:rPr>
              <a:t>the ranking variable</a:t>
            </a:r>
            <a:endParaRPr lang="en-US" sz="1300" dirty="0"/>
          </a:p>
        </p:txBody>
      </p:sp>
      <p:sp>
        <p:nvSpPr>
          <p:cNvPr id="7" name="Shape 5"/>
          <p:cNvSpPr/>
          <p:nvPr/>
        </p:nvSpPr>
        <p:spPr>
          <a:xfrm>
            <a:off x="457200" y="2084832"/>
            <a:ext cx="384048" cy="384048"/>
          </a:xfrm>
          <a:prstGeom prst="ellipse">
            <a:avLst/>
          </a:prstGeom>
          <a:solidFill>
            <a:srgbClr val="1F6F78"/>
          </a:solidFill>
          <a:ln w="12700">
            <a:solidFill>
              <a:srgbClr val="1F6F78"/>
            </a:solidFill>
            <a:prstDash val="solid"/>
          </a:ln>
        </p:spPr>
      </p:sp>
      <p:sp>
        <p:nvSpPr>
          <p:cNvPr id="8" name="Text 6"/>
          <p:cNvSpPr txBox="1"/>
          <p:nvPr/>
        </p:nvSpPr>
        <p:spPr>
          <a:xfrm>
            <a:off x="457200" y="20848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9" name="Text 7"/>
          <p:cNvSpPr txBox="1"/>
          <p:nvPr/>
        </p:nvSpPr>
        <p:spPr>
          <a:xfrm>
            <a:off x="960120" y="2039112"/>
            <a:ext cx="3291840" cy="548640"/>
          </a:xfrm>
          <a:prstGeom prst="rect">
            <a:avLst/>
          </a:prstGeom>
          <a:noFill/>
          <a:ln/>
        </p:spPr>
        <p:txBody>
          <a:bodyPr wrap="square" lIns="0" tIns="0" rIns="0" bIns="0" rtlCol="0" anchor="t"/>
          <a:lstStyle/>
          <a:p>
            <a:pPr indent="0" marL="0">
              <a:buNone/>
            </a:pPr>
            <a:r>
              <a:rPr lang="en-US" sz="1300" b="1" dirty="0">
                <a:solidFill>
                  <a:srgbClr val="1B2A2F"/>
                </a:solidFill>
                <a:latin typeface="Calibri" pitchFamily="34" charset="0"/>
                <a:ea typeface="Calibri" pitchFamily="34" charset="-122"/>
                <a:cs typeface="Calibri" pitchFamily="34" charset="-120"/>
              </a:rPr>
              <a:t>Childcare-worker wage</a:t>
            </a:r>
            <a:endParaRPr lang="en-US" sz="1300" dirty="0"/>
          </a:p>
          <a:p>
            <a:pPr indent="0" marL="0">
              <a:buNone/>
            </a:pPr>
            <a:r>
              <a:rPr lang="en-US" sz="1100" dirty="0">
                <a:solidFill>
                  <a:srgbClr val="4F5D62"/>
                </a:solidFill>
                <a:latin typeface="Calibri" pitchFamily="34" charset="0"/>
                <a:ea typeface="Calibri" pitchFamily="34" charset="-122"/>
                <a:cs typeface="Calibri" pitchFamily="34" charset="-120"/>
              </a:rPr>
              <a:t>labor cost (OEWS, per metro area)</a:t>
            </a:r>
            <a:endParaRPr lang="en-US" sz="1300" dirty="0"/>
          </a:p>
        </p:txBody>
      </p:sp>
      <p:sp>
        <p:nvSpPr>
          <p:cNvPr id="10" name="Shape 8"/>
          <p:cNvSpPr/>
          <p:nvPr/>
        </p:nvSpPr>
        <p:spPr>
          <a:xfrm>
            <a:off x="457200" y="2871216"/>
            <a:ext cx="384048" cy="384048"/>
          </a:xfrm>
          <a:prstGeom prst="ellipse">
            <a:avLst/>
          </a:prstGeom>
          <a:solidFill>
            <a:srgbClr val="1F6F78"/>
          </a:solidFill>
          <a:ln w="12700">
            <a:solidFill>
              <a:srgbClr val="1F6F78"/>
            </a:solidFill>
            <a:prstDash val="solid"/>
          </a:ln>
        </p:spPr>
      </p:sp>
      <p:sp>
        <p:nvSpPr>
          <p:cNvPr id="11" name="Text 9"/>
          <p:cNvSpPr txBox="1"/>
          <p:nvPr/>
        </p:nvSpPr>
        <p:spPr>
          <a:xfrm>
            <a:off x="457200" y="287121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2" name="Text 10"/>
          <p:cNvSpPr txBox="1"/>
          <p:nvPr/>
        </p:nvSpPr>
        <p:spPr>
          <a:xfrm>
            <a:off x="960120" y="2825496"/>
            <a:ext cx="3291840" cy="548640"/>
          </a:xfrm>
          <a:prstGeom prst="rect">
            <a:avLst/>
          </a:prstGeom>
          <a:noFill/>
          <a:ln/>
        </p:spPr>
        <p:txBody>
          <a:bodyPr wrap="square" lIns="0" tIns="0" rIns="0" bIns="0" rtlCol="0" anchor="t"/>
          <a:lstStyle/>
          <a:p>
            <a:pPr indent="0" marL="0">
              <a:buNone/>
            </a:pPr>
            <a:r>
              <a:rPr lang="en-US" sz="1300" b="1" dirty="0">
                <a:solidFill>
                  <a:srgbClr val="1B2A2F"/>
                </a:solidFill>
                <a:latin typeface="Calibri" pitchFamily="34" charset="0"/>
                <a:ea typeface="Calibri" pitchFamily="34" charset="-122"/>
                <a:cs typeface="Calibri" pitchFamily="34" charset="-120"/>
              </a:rPr>
              <a:t>Median gross rent</a:t>
            </a:r>
            <a:endParaRPr lang="en-US" sz="1300" dirty="0"/>
          </a:p>
          <a:p>
            <a:pPr indent="0" marL="0">
              <a:buNone/>
            </a:pPr>
            <a:r>
              <a:rPr lang="en-US" sz="1100" dirty="0">
                <a:solidFill>
                  <a:srgbClr val="4F5D62"/>
                </a:solidFill>
                <a:latin typeface="Calibri" pitchFamily="34" charset="0"/>
                <a:ea typeface="Calibri" pitchFamily="34" charset="-122"/>
                <a:cs typeface="Calibri" pitchFamily="34" charset="-120"/>
              </a:rPr>
              <a:t>occupancy cost proxy</a:t>
            </a:r>
            <a:endParaRPr lang="en-US" sz="1300" dirty="0"/>
          </a:p>
        </p:txBody>
      </p:sp>
      <p:sp>
        <p:nvSpPr>
          <p:cNvPr id="13" name="Shape 11"/>
          <p:cNvSpPr/>
          <p:nvPr/>
        </p:nvSpPr>
        <p:spPr>
          <a:xfrm>
            <a:off x="457200" y="3657600"/>
            <a:ext cx="384048" cy="384048"/>
          </a:xfrm>
          <a:prstGeom prst="ellipse">
            <a:avLst/>
          </a:prstGeom>
          <a:solidFill>
            <a:srgbClr val="1F6F78"/>
          </a:solidFill>
          <a:ln w="12700">
            <a:solidFill>
              <a:srgbClr val="1F6F78"/>
            </a:solidFill>
            <a:prstDash val="solid"/>
          </a:ln>
        </p:spPr>
      </p:sp>
      <p:sp>
        <p:nvSpPr>
          <p:cNvPr id="14" name="Text 12"/>
          <p:cNvSpPr txBox="1"/>
          <p:nvPr/>
        </p:nvSpPr>
        <p:spPr>
          <a:xfrm>
            <a:off x="457200" y="3657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5" name="Text 13"/>
          <p:cNvSpPr txBox="1"/>
          <p:nvPr/>
        </p:nvSpPr>
        <p:spPr>
          <a:xfrm>
            <a:off x="960120" y="3611880"/>
            <a:ext cx="3291840" cy="548640"/>
          </a:xfrm>
          <a:prstGeom prst="rect">
            <a:avLst/>
          </a:prstGeom>
          <a:noFill/>
          <a:ln/>
        </p:spPr>
        <p:txBody>
          <a:bodyPr wrap="square" lIns="0" tIns="0" rIns="0" bIns="0" rtlCol="0" anchor="t"/>
          <a:lstStyle/>
          <a:p>
            <a:pPr indent="0" marL="0">
              <a:buNone/>
            </a:pPr>
            <a:r>
              <a:rPr lang="en-US" sz="1300" b="1" dirty="0">
                <a:solidFill>
                  <a:srgbClr val="1B2A2F"/>
                </a:solidFill>
                <a:latin typeface="Calibri" pitchFamily="34" charset="0"/>
                <a:ea typeface="Calibri" pitchFamily="34" charset="-122"/>
                <a:cs typeface="Calibri" pitchFamily="34" charset="-120"/>
              </a:rPr>
              <a:t>Children under 6, all parents working</a:t>
            </a:r>
            <a:endParaRPr lang="en-US" sz="1300" dirty="0"/>
          </a:p>
          <a:p>
            <a:pPr indent="0" marL="0">
              <a:buNone/>
            </a:pPr>
            <a:r>
              <a:rPr lang="en-US" sz="1100" dirty="0">
                <a:solidFill>
                  <a:srgbClr val="4F5D62"/>
                </a:solidFill>
                <a:latin typeface="Calibri" pitchFamily="34" charset="0"/>
                <a:ea typeface="Calibri" pitchFamily="34" charset="-122"/>
                <a:cs typeface="Calibri" pitchFamily="34" charset="-120"/>
              </a:rPr>
              <a:t>demand depth (≥ 5,000)</a:t>
            </a:r>
            <a:endParaRPr lang="en-US" sz="1300" dirty="0"/>
          </a:p>
        </p:txBody>
      </p:sp>
      <p:sp>
        <p:nvSpPr>
          <p:cNvPr id="16" name="Shape 14"/>
          <p:cNvSpPr/>
          <p:nvPr/>
        </p:nvSpPr>
        <p:spPr>
          <a:xfrm>
            <a:off x="4572000" y="914400"/>
            <a:ext cx="4114800" cy="3749040"/>
          </a:xfrm>
          <a:prstGeom prst="roundRect">
            <a:avLst>
              <a:gd name="adj" fmla="val 1951"/>
            </a:avLst>
          </a:prstGeom>
          <a:solidFill>
            <a:srgbClr val="EAF3F3"/>
          </a:solidFill>
          <a:ln w="12700">
            <a:solidFill>
              <a:srgbClr val="EAF3F3"/>
            </a:solidFill>
            <a:prstDash val="solid"/>
          </a:ln>
        </p:spPr>
      </p:sp>
      <p:sp>
        <p:nvSpPr>
          <p:cNvPr id="17" name="Text 15"/>
          <p:cNvSpPr txBox="1"/>
          <p:nvPr/>
        </p:nvSpPr>
        <p:spPr>
          <a:xfrm>
            <a:off x="4754880" y="1005840"/>
            <a:ext cx="3749040" cy="274320"/>
          </a:xfrm>
          <a:prstGeom prst="rect">
            <a:avLst/>
          </a:prstGeom>
          <a:noFill/>
          <a:ln/>
        </p:spPr>
        <p:txBody>
          <a:bodyPr wrap="square" lIns="0" tIns="0" rIns="0" bIns="0" rtlCol="0" anchor="ctr"/>
          <a:lstStyle/>
          <a:p>
            <a:pPr indent="0" marL="0">
              <a:buNone/>
            </a:pPr>
            <a:r>
              <a:rPr lang="en-US" sz="1300" b="1" dirty="0">
                <a:solidFill>
                  <a:srgbClr val="0E3B43"/>
                </a:solidFill>
                <a:latin typeface="Cambria" pitchFamily="34" charset="0"/>
                <a:ea typeface="Cambria" pitchFamily="34" charset="-122"/>
                <a:cs typeface="Cambria" pitchFamily="34" charset="-120"/>
              </a:rPr>
              <a:t>Top 10 vs. all metro counties (2022)</a:t>
            </a:r>
            <a:endParaRPr lang="en-US" sz="1300" dirty="0"/>
          </a:p>
        </p:txBody>
      </p:sp>
      <p:sp>
        <p:nvSpPr>
          <p:cNvPr id="18" name="Text 16"/>
          <p:cNvSpPr txBox="1"/>
          <p:nvPr/>
        </p:nvSpPr>
        <p:spPr>
          <a:xfrm>
            <a:off x="6812280" y="1353312"/>
            <a:ext cx="822960" cy="228600"/>
          </a:xfrm>
          <a:prstGeom prst="rect">
            <a:avLst/>
          </a:prstGeom>
          <a:noFill/>
          <a:ln/>
        </p:spPr>
        <p:txBody>
          <a:bodyPr wrap="square" lIns="0" tIns="0" rIns="0" bIns="0" rtlCol="0" anchor="ctr"/>
          <a:lstStyle/>
          <a:p>
            <a:pPr algn="r" indent="0" marL="0">
              <a:buNone/>
            </a:pPr>
            <a:r>
              <a:rPr lang="en-US" sz="1000" b="1" dirty="0">
                <a:solidFill>
                  <a:srgbClr val="E8613C"/>
                </a:solidFill>
                <a:latin typeface="Calibri" pitchFamily="34" charset="0"/>
                <a:ea typeface="Calibri" pitchFamily="34" charset="-122"/>
                <a:cs typeface="Calibri" pitchFamily="34" charset="-120"/>
              </a:rPr>
              <a:t>Top 10</a:t>
            </a:r>
            <a:endParaRPr lang="en-US" sz="1000" dirty="0"/>
          </a:p>
        </p:txBody>
      </p:sp>
      <p:sp>
        <p:nvSpPr>
          <p:cNvPr id="19" name="Text 17"/>
          <p:cNvSpPr txBox="1"/>
          <p:nvPr/>
        </p:nvSpPr>
        <p:spPr>
          <a:xfrm>
            <a:off x="7680960" y="1353312"/>
            <a:ext cx="868680" cy="228600"/>
          </a:xfrm>
          <a:prstGeom prst="rect">
            <a:avLst/>
          </a:prstGeom>
          <a:noFill/>
          <a:ln/>
        </p:spPr>
        <p:txBody>
          <a:bodyPr wrap="square" lIns="0" tIns="0" rIns="0" bIns="0" rtlCol="0" anchor="ctr"/>
          <a:lstStyle/>
          <a:p>
            <a:pPr algn="r" indent="0" marL="0">
              <a:buNone/>
            </a:pPr>
            <a:r>
              <a:rPr lang="en-US" sz="1000" b="1" dirty="0">
                <a:solidFill>
                  <a:srgbClr val="4F5D62"/>
                </a:solidFill>
                <a:latin typeface="Calibri" pitchFamily="34" charset="0"/>
                <a:ea typeface="Calibri" pitchFamily="34" charset="-122"/>
                <a:cs typeface="Calibri" pitchFamily="34" charset="-120"/>
              </a:rPr>
              <a:t>All metro</a:t>
            </a:r>
            <a:endParaRPr lang="en-US" sz="1000" dirty="0"/>
          </a:p>
        </p:txBody>
      </p:sp>
      <p:sp>
        <p:nvSpPr>
          <p:cNvPr id="20" name="Text 18"/>
          <p:cNvSpPr txBox="1"/>
          <p:nvPr/>
        </p:nvSpPr>
        <p:spPr>
          <a:xfrm>
            <a:off x="4754880" y="1664208"/>
            <a:ext cx="2103120" cy="365760"/>
          </a:xfrm>
          <a:prstGeom prst="rect">
            <a:avLst/>
          </a:prstGeom>
          <a:noFill/>
          <a:ln/>
        </p:spPr>
        <p:txBody>
          <a:bodyPr wrap="square" lIns="0" tIns="0" rIns="0" bIns="0" rtlCol="0" anchor="ctr"/>
          <a:lstStyle/>
          <a:p>
            <a:pPr indent="0" marL="0">
              <a:buNone/>
            </a:pPr>
            <a:r>
              <a:rPr lang="en-US" sz="1200" dirty="0">
                <a:solidFill>
                  <a:srgbClr val="1B2A2F"/>
                </a:solidFill>
                <a:latin typeface="Calibri" pitchFamily="34" charset="0"/>
                <a:ea typeface="Calibri" pitchFamily="34" charset="-122"/>
                <a:cs typeface="Calibri" pitchFamily="34" charset="-120"/>
              </a:rPr>
              <a:t>Per-capita income</a:t>
            </a:r>
            <a:endParaRPr lang="en-US" sz="1200" dirty="0"/>
          </a:p>
        </p:txBody>
      </p:sp>
      <p:sp>
        <p:nvSpPr>
          <p:cNvPr id="21" name="Text 19"/>
          <p:cNvSpPr txBox="1"/>
          <p:nvPr/>
        </p:nvSpPr>
        <p:spPr>
          <a:xfrm>
            <a:off x="6812280" y="1664208"/>
            <a:ext cx="822960" cy="365760"/>
          </a:xfrm>
          <a:prstGeom prst="rect">
            <a:avLst/>
          </a:prstGeom>
          <a:noFill/>
          <a:ln/>
        </p:spPr>
        <p:txBody>
          <a:bodyPr wrap="square" lIns="0" tIns="0" rIns="0" bIns="0" rtlCol="0" anchor="ctr"/>
          <a:lstStyle/>
          <a:p>
            <a:pPr algn="r" indent="0" marL="0">
              <a:buNone/>
            </a:pPr>
            <a:r>
              <a:rPr lang="en-US" sz="1600" b="1" dirty="0">
                <a:solidFill>
                  <a:srgbClr val="E8613C"/>
                </a:solidFill>
                <a:latin typeface="Cambria" pitchFamily="34" charset="0"/>
                <a:ea typeface="Cambria" pitchFamily="34" charset="-122"/>
                <a:cs typeface="Cambria" pitchFamily="34" charset="-120"/>
              </a:rPr>
              <a:t>$56k</a:t>
            </a:r>
            <a:endParaRPr lang="en-US" sz="1600" dirty="0"/>
          </a:p>
        </p:txBody>
      </p:sp>
      <p:sp>
        <p:nvSpPr>
          <p:cNvPr id="22" name="Text 20"/>
          <p:cNvSpPr txBox="1"/>
          <p:nvPr/>
        </p:nvSpPr>
        <p:spPr>
          <a:xfrm>
            <a:off x="7680960" y="1664208"/>
            <a:ext cx="868680" cy="365760"/>
          </a:xfrm>
          <a:prstGeom prst="rect">
            <a:avLst/>
          </a:prstGeom>
          <a:noFill/>
          <a:ln/>
        </p:spPr>
        <p:txBody>
          <a:bodyPr wrap="square" lIns="0" tIns="0" rIns="0" bIns="0" rtlCol="0" anchor="ctr"/>
          <a:lstStyle/>
          <a:p>
            <a:pPr algn="r" indent="0" marL="0">
              <a:buNone/>
            </a:pPr>
            <a:r>
              <a:rPr lang="en-US" sz="1600" dirty="0">
                <a:solidFill>
                  <a:srgbClr val="4F5D62"/>
                </a:solidFill>
                <a:latin typeface="Cambria" pitchFamily="34" charset="0"/>
                <a:ea typeface="Cambria" pitchFamily="34" charset="-122"/>
                <a:cs typeface="Cambria" pitchFamily="34" charset="-120"/>
              </a:rPr>
              <a:t>$38k</a:t>
            </a:r>
            <a:endParaRPr lang="en-US" sz="1600" dirty="0"/>
          </a:p>
        </p:txBody>
      </p:sp>
      <p:sp>
        <p:nvSpPr>
          <p:cNvPr id="23" name="Text 21"/>
          <p:cNvSpPr txBox="1"/>
          <p:nvPr/>
        </p:nvSpPr>
        <p:spPr>
          <a:xfrm>
            <a:off x="4754880" y="2121408"/>
            <a:ext cx="2103120" cy="365760"/>
          </a:xfrm>
          <a:prstGeom prst="rect">
            <a:avLst/>
          </a:prstGeom>
          <a:noFill/>
          <a:ln/>
        </p:spPr>
        <p:txBody>
          <a:bodyPr wrap="square" lIns="0" tIns="0" rIns="0" bIns="0" rtlCol="0" anchor="ctr"/>
          <a:lstStyle/>
          <a:p>
            <a:pPr indent="0" marL="0">
              <a:buNone/>
            </a:pPr>
            <a:r>
              <a:rPr lang="en-US" sz="1200" dirty="0">
                <a:solidFill>
                  <a:srgbClr val="1B2A2F"/>
                </a:solidFill>
                <a:latin typeface="Calibri" pitchFamily="34" charset="0"/>
                <a:ea typeface="Calibri" pitchFamily="34" charset="-122"/>
                <a:cs typeface="Calibri" pitchFamily="34" charset="-120"/>
              </a:rPr>
              <a:t>Women 25+ with bachelor's+</a:t>
            </a:r>
            <a:endParaRPr lang="en-US" sz="1200" dirty="0"/>
          </a:p>
        </p:txBody>
      </p:sp>
      <p:sp>
        <p:nvSpPr>
          <p:cNvPr id="24" name="Text 22"/>
          <p:cNvSpPr txBox="1"/>
          <p:nvPr/>
        </p:nvSpPr>
        <p:spPr>
          <a:xfrm>
            <a:off x="6812280" y="2121408"/>
            <a:ext cx="822960" cy="365760"/>
          </a:xfrm>
          <a:prstGeom prst="rect">
            <a:avLst/>
          </a:prstGeom>
          <a:noFill/>
          <a:ln/>
        </p:spPr>
        <p:txBody>
          <a:bodyPr wrap="square" lIns="0" tIns="0" rIns="0" bIns="0" rtlCol="0" anchor="ctr"/>
          <a:lstStyle/>
          <a:p>
            <a:pPr algn="r" indent="0" marL="0">
              <a:buNone/>
            </a:pPr>
            <a:r>
              <a:rPr lang="en-US" sz="1600" b="1" dirty="0">
                <a:solidFill>
                  <a:srgbClr val="E8613C"/>
                </a:solidFill>
                <a:latin typeface="Cambria" pitchFamily="34" charset="0"/>
                <a:ea typeface="Cambria" pitchFamily="34" charset="-122"/>
                <a:cs typeface="Cambria" pitchFamily="34" charset="-120"/>
              </a:rPr>
              <a:t>49%</a:t>
            </a:r>
            <a:endParaRPr lang="en-US" sz="1600" dirty="0"/>
          </a:p>
        </p:txBody>
      </p:sp>
      <p:sp>
        <p:nvSpPr>
          <p:cNvPr id="25" name="Text 23"/>
          <p:cNvSpPr txBox="1"/>
          <p:nvPr/>
        </p:nvSpPr>
        <p:spPr>
          <a:xfrm>
            <a:off x="7680960" y="2121408"/>
            <a:ext cx="868680" cy="365760"/>
          </a:xfrm>
          <a:prstGeom prst="rect">
            <a:avLst/>
          </a:prstGeom>
          <a:noFill/>
          <a:ln/>
        </p:spPr>
        <p:txBody>
          <a:bodyPr wrap="square" lIns="0" tIns="0" rIns="0" bIns="0" rtlCol="0" anchor="ctr"/>
          <a:lstStyle/>
          <a:p>
            <a:pPr algn="r" indent="0" marL="0">
              <a:buNone/>
            </a:pPr>
            <a:r>
              <a:rPr lang="en-US" sz="1600" dirty="0">
                <a:solidFill>
                  <a:srgbClr val="4F5D62"/>
                </a:solidFill>
                <a:latin typeface="Cambria" pitchFamily="34" charset="0"/>
                <a:ea typeface="Cambria" pitchFamily="34" charset="-122"/>
                <a:cs typeface="Cambria" pitchFamily="34" charset="-120"/>
              </a:rPr>
              <a:t>31%</a:t>
            </a:r>
            <a:endParaRPr lang="en-US" sz="1600" dirty="0"/>
          </a:p>
        </p:txBody>
      </p:sp>
      <p:sp>
        <p:nvSpPr>
          <p:cNvPr id="26" name="Text 24"/>
          <p:cNvSpPr txBox="1"/>
          <p:nvPr/>
        </p:nvSpPr>
        <p:spPr>
          <a:xfrm>
            <a:off x="4754880" y="2578608"/>
            <a:ext cx="2103120" cy="365760"/>
          </a:xfrm>
          <a:prstGeom prst="rect">
            <a:avLst/>
          </a:prstGeom>
          <a:noFill/>
          <a:ln/>
        </p:spPr>
        <p:txBody>
          <a:bodyPr wrap="square" lIns="0" tIns="0" rIns="0" bIns="0" rtlCol="0" anchor="ctr"/>
          <a:lstStyle/>
          <a:p>
            <a:pPr indent="0" marL="0">
              <a:buNone/>
            </a:pPr>
            <a:r>
              <a:rPr lang="en-US" sz="1200" dirty="0">
                <a:solidFill>
                  <a:srgbClr val="1B2A2F"/>
                </a:solidFill>
                <a:latin typeface="Calibri" pitchFamily="34" charset="0"/>
                <a:ea typeface="Calibri" pitchFamily="34" charset="-122"/>
                <a:cs typeface="Calibri" pitchFamily="34" charset="-120"/>
              </a:rPr>
              <a:t>Women working full-time, year-round</a:t>
            </a:r>
            <a:endParaRPr lang="en-US" sz="1200" dirty="0"/>
          </a:p>
        </p:txBody>
      </p:sp>
      <p:sp>
        <p:nvSpPr>
          <p:cNvPr id="27" name="Text 25"/>
          <p:cNvSpPr txBox="1"/>
          <p:nvPr/>
        </p:nvSpPr>
        <p:spPr>
          <a:xfrm>
            <a:off x="6812280" y="2578608"/>
            <a:ext cx="822960" cy="365760"/>
          </a:xfrm>
          <a:prstGeom prst="rect">
            <a:avLst/>
          </a:prstGeom>
          <a:noFill/>
          <a:ln/>
        </p:spPr>
        <p:txBody>
          <a:bodyPr wrap="square" lIns="0" tIns="0" rIns="0" bIns="0" rtlCol="0" anchor="ctr"/>
          <a:lstStyle/>
          <a:p>
            <a:pPr algn="r" indent="0" marL="0">
              <a:buNone/>
            </a:pPr>
            <a:r>
              <a:rPr lang="en-US" sz="1600" b="1" dirty="0">
                <a:solidFill>
                  <a:srgbClr val="E8613C"/>
                </a:solidFill>
                <a:latin typeface="Cambria" pitchFamily="34" charset="0"/>
                <a:ea typeface="Cambria" pitchFamily="34" charset="-122"/>
                <a:cs typeface="Cambria" pitchFamily="34" charset="-120"/>
              </a:rPr>
              <a:t>51%</a:t>
            </a:r>
            <a:endParaRPr lang="en-US" sz="1600" dirty="0"/>
          </a:p>
        </p:txBody>
      </p:sp>
      <p:sp>
        <p:nvSpPr>
          <p:cNvPr id="28" name="Text 26"/>
          <p:cNvSpPr txBox="1"/>
          <p:nvPr/>
        </p:nvSpPr>
        <p:spPr>
          <a:xfrm>
            <a:off x="7680960" y="2578608"/>
            <a:ext cx="868680" cy="365760"/>
          </a:xfrm>
          <a:prstGeom prst="rect">
            <a:avLst/>
          </a:prstGeom>
          <a:noFill/>
          <a:ln/>
        </p:spPr>
        <p:txBody>
          <a:bodyPr wrap="square" lIns="0" tIns="0" rIns="0" bIns="0" rtlCol="0" anchor="ctr"/>
          <a:lstStyle/>
          <a:p>
            <a:pPr algn="r" indent="0" marL="0">
              <a:buNone/>
            </a:pPr>
            <a:r>
              <a:rPr lang="en-US" sz="1600" dirty="0">
                <a:solidFill>
                  <a:srgbClr val="4F5D62"/>
                </a:solidFill>
                <a:latin typeface="Cambria" pitchFamily="34" charset="0"/>
                <a:ea typeface="Cambria" pitchFamily="34" charset="-122"/>
                <a:cs typeface="Cambria" pitchFamily="34" charset="-120"/>
              </a:rPr>
              <a:t>45%</a:t>
            </a:r>
            <a:endParaRPr lang="en-US" sz="1600" dirty="0"/>
          </a:p>
        </p:txBody>
      </p:sp>
      <p:sp>
        <p:nvSpPr>
          <p:cNvPr id="29" name="Text 27"/>
          <p:cNvSpPr txBox="1"/>
          <p:nvPr/>
        </p:nvSpPr>
        <p:spPr>
          <a:xfrm>
            <a:off x="4754880" y="3035808"/>
            <a:ext cx="2103120" cy="365760"/>
          </a:xfrm>
          <a:prstGeom prst="rect">
            <a:avLst/>
          </a:prstGeom>
          <a:noFill/>
          <a:ln/>
        </p:spPr>
        <p:txBody>
          <a:bodyPr wrap="square" lIns="0" tIns="0" rIns="0" bIns="0" rtlCol="0" anchor="ctr"/>
          <a:lstStyle/>
          <a:p>
            <a:pPr indent="0" marL="0">
              <a:buNone/>
            </a:pPr>
            <a:r>
              <a:rPr lang="en-US" sz="1200" dirty="0">
                <a:solidFill>
                  <a:srgbClr val="1B2A2F"/>
                </a:solidFill>
                <a:latin typeface="Calibri" pitchFamily="34" charset="0"/>
                <a:ea typeface="Calibri" pitchFamily="34" charset="-122"/>
                <a:cs typeface="Calibri" pitchFamily="34" charset="-120"/>
              </a:rPr>
              <a:t>Median gross rent</a:t>
            </a:r>
            <a:endParaRPr lang="en-US" sz="1200" dirty="0"/>
          </a:p>
        </p:txBody>
      </p:sp>
      <p:sp>
        <p:nvSpPr>
          <p:cNvPr id="30" name="Text 28"/>
          <p:cNvSpPr txBox="1"/>
          <p:nvPr/>
        </p:nvSpPr>
        <p:spPr>
          <a:xfrm>
            <a:off x="6812280" y="3035808"/>
            <a:ext cx="822960" cy="365760"/>
          </a:xfrm>
          <a:prstGeom prst="rect">
            <a:avLst/>
          </a:prstGeom>
          <a:noFill/>
          <a:ln/>
        </p:spPr>
        <p:txBody>
          <a:bodyPr wrap="square" lIns="0" tIns="0" rIns="0" bIns="0" rtlCol="0" anchor="ctr"/>
          <a:lstStyle/>
          <a:p>
            <a:pPr algn="r" indent="0" marL="0">
              <a:buNone/>
            </a:pPr>
            <a:r>
              <a:rPr lang="en-US" sz="1600" b="1" dirty="0">
                <a:solidFill>
                  <a:srgbClr val="E8613C"/>
                </a:solidFill>
                <a:latin typeface="Cambria" pitchFamily="34" charset="0"/>
                <a:ea typeface="Cambria" pitchFamily="34" charset="-122"/>
                <a:cs typeface="Cambria" pitchFamily="34" charset="-120"/>
              </a:rPr>
              <a:t>$1,437</a:t>
            </a:r>
            <a:endParaRPr lang="en-US" sz="1600" dirty="0"/>
          </a:p>
        </p:txBody>
      </p:sp>
      <p:sp>
        <p:nvSpPr>
          <p:cNvPr id="31" name="Text 29"/>
          <p:cNvSpPr txBox="1"/>
          <p:nvPr/>
        </p:nvSpPr>
        <p:spPr>
          <a:xfrm>
            <a:off x="7680960" y="3035808"/>
            <a:ext cx="868680" cy="365760"/>
          </a:xfrm>
          <a:prstGeom prst="rect">
            <a:avLst/>
          </a:prstGeom>
          <a:noFill/>
          <a:ln/>
        </p:spPr>
        <p:txBody>
          <a:bodyPr wrap="square" lIns="0" tIns="0" rIns="0" bIns="0" rtlCol="0" anchor="ctr"/>
          <a:lstStyle/>
          <a:p>
            <a:pPr algn="r" indent="0" marL="0">
              <a:buNone/>
            </a:pPr>
            <a:r>
              <a:rPr lang="en-US" sz="1600" dirty="0">
                <a:solidFill>
                  <a:srgbClr val="4F5D62"/>
                </a:solidFill>
                <a:latin typeface="Cambria" pitchFamily="34" charset="0"/>
                <a:ea typeface="Cambria" pitchFamily="34" charset="-122"/>
                <a:cs typeface="Cambria" pitchFamily="34" charset="-120"/>
              </a:rPr>
              <a:t>$1,106</a:t>
            </a:r>
            <a:endParaRPr lang="en-US" sz="1600" dirty="0"/>
          </a:p>
        </p:txBody>
      </p:sp>
      <p:sp>
        <p:nvSpPr>
          <p:cNvPr id="32" name="Text 30"/>
          <p:cNvSpPr txBox="1"/>
          <p:nvPr/>
        </p:nvSpPr>
        <p:spPr>
          <a:xfrm>
            <a:off x="4754880" y="3493008"/>
            <a:ext cx="2103120" cy="365760"/>
          </a:xfrm>
          <a:prstGeom prst="rect">
            <a:avLst/>
          </a:prstGeom>
          <a:noFill/>
          <a:ln/>
        </p:spPr>
        <p:txBody>
          <a:bodyPr wrap="square" lIns="0" tIns="0" rIns="0" bIns="0" rtlCol="0" anchor="ctr"/>
          <a:lstStyle/>
          <a:p>
            <a:pPr indent="0" marL="0">
              <a:buNone/>
            </a:pPr>
            <a:r>
              <a:rPr lang="en-US" sz="1200" dirty="0">
                <a:solidFill>
                  <a:srgbClr val="1B2A2F"/>
                </a:solidFill>
                <a:latin typeface="Calibri" pitchFamily="34" charset="0"/>
                <a:ea typeface="Calibri" pitchFamily="34" charset="-122"/>
                <a:cs typeface="Calibri" pitchFamily="34" charset="-120"/>
              </a:rPr>
              <a:t>Preschool price, $/week</a:t>
            </a:r>
            <a:endParaRPr lang="en-US" sz="1200" dirty="0"/>
          </a:p>
        </p:txBody>
      </p:sp>
      <p:sp>
        <p:nvSpPr>
          <p:cNvPr id="33" name="Text 31"/>
          <p:cNvSpPr txBox="1"/>
          <p:nvPr/>
        </p:nvSpPr>
        <p:spPr>
          <a:xfrm>
            <a:off x="6812280" y="3493008"/>
            <a:ext cx="822960" cy="365760"/>
          </a:xfrm>
          <a:prstGeom prst="rect">
            <a:avLst/>
          </a:prstGeom>
          <a:noFill/>
          <a:ln/>
        </p:spPr>
        <p:txBody>
          <a:bodyPr wrap="square" lIns="0" tIns="0" rIns="0" bIns="0" rtlCol="0" anchor="ctr"/>
          <a:lstStyle/>
          <a:p>
            <a:pPr algn="r" indent="0" marL="0">
              <a:buNone/>
            </a:pPr>
            <a:r>
              <a:rPr lang="en-US" sz="1600" b="1" dirty="0">
                <a:solidFill>
                  <a:srgbClr val="E8613C"/>
                </a:solidFill>
                <a:latin typeface="Cambria" pitchFamily="34" charset="0"/>
                <a:ea typeface="Cambria" pitchFamily="34" charset="-122"/>
                <a:cs typeface="Cambria" pitchFamily="34" charset="-120"/>
              </a:rPr>
              <a:t>$352</a:t>
            </a:r>
            <a:endParaRPr lang="en-US" sz="1600" dirty="0"/>
          </a:p>
        </p:txBody>
      </p:sp>
      <p:sp>
        <p:nvSpPr>
          <p:cNvPr id="34" name="Text 32"/>
          <p:cNvSpPr txBox="1"/>
          <p:nvPr/>
        </p:nvSpPr>
        <p:spPr>
          <a:xfrm>
            <a:off x="7680960" y="3493008"/>
            <a:ext cx="868680" cy="365760"/>
          </a:xfrm>
          <a:prstGeom prst="rect">
            <a:avLst/>
          </a:prstGeom>
          <a:noFill/>
          <a:ln/>
        </p:spPr>
        <p:txBody>
          <a:bodyPr wrap="square" lIns="0" tIns="0" rIns="0" bIns="0" rtlCol="0" anchor="ctr"/>
          <a:lstStyle/>
          <a:p>
            <a:pPr algn="r" indent="0" marL="0">
              <a:buNone/>
            </a:pPr>
            <a:r>
              <a:rPr lang="en-US" sz="1600" dirty="0">
                <a:solidFill>
                  <a:srgbClr val="4F5D62"/>
                </a:solidFill>
                <a:latin typeface="Cambria" pitchFamily="34" charset="0"/>
                <a:ea typeface="Cambria" pitchFamily="34" charset="-122"/>
                <a:cs typeface="Cambria" pitchFamily="34" charset="-120"/>
              </a:rPr>
              <a:t>$174</a:t>
            </a:r>
            <a:endParaRPr lang="en-US" sz="1600" dirty="0"/>
          </a:p>
        </p:txBody>
      </p:sp>
      <p:sp>
        <p:nvSpPr>
          <p:cNvPr id="35" name="Text 33"/>
          <p:cNvSpPr txBox="1"/>
          <p:nvPr/>
        </p:nvSpPr>
        <p:spPr>
          <a:xfrm>
            <a:off x="4754880" y="4005072"/>
            <a:ext cx="3794760" cy="548640"/>
          </a:xfrm>
          <a:prstGeom prst="rect">
            <a:avLst/>
          </a:prstGeom>
          <a:noFill/>
          <a:ln/>
        </p:spPr>
        <p:txBody>
          <a:bodyPr wrap="square" lIns="0" tIns="0" rIns="0" bIns="0" rtlCol="0" anchor="t"/>
          <a:lstStyle/>
          <a:p>
            <a:pPr indent="0" marL="0">
              <a:buNone/>
            </a:pPr>
            <a:r>
              <a:rPr lang="en-US" sz="1100" i="1" dirty="0">
                <a:solidFill>
                  <a:srgbClr val="1F6F78"/>
                </a:solidFill>
                <a:latin typeface="Calibri" pitchFamily="34" charset="0"/>
                <a:ea typeface="Calibri" pitchFamily="34" charset="-122"/>
                <a:cs typeface="Calibri" pitchFamily="34" charset="-120"/>
              </a:rPr>
              <a:t>But demographics alone explain only 7% of premiums, so we rank on the measured premium, not on demographics.</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92608"/>
            <a:ext cx="8229600" cy="548640"/>
          </a:xfrm>
          <a:prstGeom prst="rect">
            <a:avLst/>
          </a:prstGeom>
          <a:noFill/>
          <a:ln/>
        </p:spPr>
        <p:txBody>
          <a:bodyPr wrap="square" lIns="0" tIns="0" rIns="0" bIns="0" rtlCol="0" anchor="t"/>
          <a:lstStyle/>
          <a:p>
            <a:pPr algn="l" indent="0" marL="0">
              <a:buNone/>
            </a:pPr>
            <a:r>
              <a:rPr lang="en-US" sz="2200" b="1" dirty="0">
                <a:solidFill>
                  <a:srgbClr val="0E3B43"/>
                </a:solidFill>
                <a:latin typeface="Cambria" pitchFamily="34" charset="0"/>
                <a:ea typeface="Cambria" pitchFamily="34" charset="-122"/>
                <a:cs typeface="Cambria" pitchFamily="34" charset="-120"/>
              </a:rPr>
              <a:t>Premiums persist: high-premium markets stay on top</a:t>
            </a:r>
            <a:endParaRPr lang="en-US" sz="2200" dirty="0"/>
          </a:p>
        </p:txBody>
      </p:sp>
      <p:graphicFrame>
        <p:nvGraphicFramePr>
          <p:cNvPr id="3" name="Chart 0" descr=""/>
          <p:cNvGraphicFramePr/>
          <p:nvPr/>
        </p:nvGraphicFramePr>
        <p:xfrm>
          <a:off x="365760" y="914400"/>
          <a:ext cx="5303520" cy="379476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897880" y="960120"/>
            <a:ext cx="2788920" cy="1463040"/>
          </a:xfrm>
          <a:prstGeom prst="roundRect">
            <a:avLst>
              <a:gd name="adj" fmla="val 5000"/>
            </a:avLst>
          </a:prstGeom>
          <a:solidFill>
            <a:srgbClr val="EAF3F3"/>
          </a:solidFill>
          <a:ln w="12700">
            <a:solidFill>
              <a:srgbClr val="EAF3F3"/>
            </a:solidFill>
            <a:prstDash val="solid"/>
          </a:ln>
        </p:spPr>
      </p:sp>
      <p:sp>
        <p:nvSpPr>
          <p:cNvPr id="5" name="Text 2"/>
          <p:cNvSpPr txBox="1"/>
          <p:nvPr/>
        </p:nvSpPr>
        <p:spPr>
          <a:xfrm>
            <a:off x="6035040" y="1024128"/>
            <a:ext cx="2560320" cy="594360"/>
          </a:xfrm>
          <a:prstGeom prst="rect">
            <a:avLst/>
          </a:prstGeom>
          <a:noFill/>
          <a:ln/>
        </p:spPr>
        <p:txBody>
          <a:bodyPr wrap="square" lIns="0" tIns="0" rIns="0" bIns="0" rtlCol="0" anchor="ctr"/>
          <a:lstStyle/>
          <a:p>
            <a:pPr indent="0" marL="0">
              <a:buNone/>
            </a:pPr>
            <a:r>
              <a:rPr lang="en-US" sz="3600" b="1" dirty="0">
                <a:solidFill>
                  <a:srgbClr val="E8613C"/>
                </a:solidFill>
                <a:latin typeface="Cambria" pitchFamily="34" charset="0"/>
                <a:ea typeface="Cambria" pitchFamily="34" charset="-122"/>
                <a:cs typeface="Cambria" pitchFamily="34" charset="-120"/>
              </a:rPr>
              <a:t>0.88</a:t>
            </a:r>
            <a:endParaRPr lang="en-US" sz="3600" dirty="0"/>
          </a:p>
        </p:txBody>
      </p:sp>
      <p:sp>
        <p:nvSpPr>
          <p:cNvPr id="6" name="Text 3"/>
          <p:cNvSpPr txBox="1"/>
          <p:nvPr/>
        </p:nvSpPr>
        <p:spPr>
          <a:xfrm>
            <a:off x="6035040" y="1645920"/>
            <a:ext cx="2514600" cy="731520"/>
          </a:xfrm>
          <a:prstGeom prst="rect">
            <a:avLst/>
          </a:prstGeom>
          <a:noFill/>
          <a:ln/>
        </p:spPr>
        <p:txBody>
          <a:bodyPr wrap="square" lIns="0" tIns="0" rIns="0" bIns="0" rtlCol="0" anchor="t"/>
          <a:lstStyle/>
          <a:p>
            <a:pPr indent="0" marL="0">
              <a:buNone/>
            </a:pPr>
            <a:r>
              <a:rPr lang="en-US" sz="1200" dirty="0">
                <a:solidFill>
                  <a:srgbClr val="1B2A2F"/>
                </a:solidFill>
                <a:latin typeface="Calibri" pitchFamily="34" charset="0"/>
                <a:ea typeface="Calibri" pitchFamily="34" charset="-122"/>
                <a:cs typeface="Calibri" pitchFamily="34" charset="-120"/>
              </a:rPr>
              <a:t>A $1 premium in 2019 still meant about 88¢ in 2022, through the pandemic</a:t>
            </a:r>
            <a:endParaRPr lang="en-US" sz="1200" dirty="0"/>
          </a:p>
        </p:txBody>
      </p:sp>
      <p:sp>
        <p:nvSpPr>
          <p:cNvPr id="7" name="Shape 4"/>
          <p:cNvSpPr/>
          <p:nvPr/>
        </p:nvSpPr>
        <p:spPr>
          <a:xfrm>
            <a:off x="5897880" y="2560320"/>
            <a:ext cx="2788920" cy="914400"/>
          </a:xfrm>
          <a:prstGeom prst="roundRect">
            <a:avLst>
              <a:gd name="adj" fmla="val 8000"/>
            </a:avLst>
          </a:prstGeom>
          <a:solidFill>
            <a:srgbClr val="EAF3F3"/>
          </a:solidFill>
          <a:ln w="12700">
            <a:solidFill>
              <a:srgbClr val="EAF3F3"/>
            </a:solidFill>
            <a:prstDash val="solid"/>
          </a:ln>
        </p:spPr>
      </p:sp>
      <p:sp>
        <p:nvSpPr>
          <p:cNvPr id="8" name="Text 5"/>
          <p:cNvSpPr txBox="1"/>
          <p:nvPr/>
        </p:nvSpPr>
        <p:spPr>
          <a:xfrm>
            <a:off x="6035040" y="2633472"/>
            <a:ext cx="2560320" cy="777240"/>
          </a:xfrm>
          <a:prstGeom prst="rect">
            <a:avLst/>
          </a:prstGeom>
          <a:noFill/>
          <a:ln/>
        </p:spPr>
        <p:txBody>
          <a:bodyPr wrap="square" lIns="0" tIns="0" rIns="0" bIns="0" rtlCol="0" anchor="t"/>
          <a:lstStyle/>
          <a:p>
            <a:pPr indent="0" marL="0">
              <a:buNone/>
            </a:pPr>
            <a:r>
              <a:rPr lang="en-US" sz="1200" b="1" dirty="0">
                <a:solidFill>
                  <a:srgbClr val="1B2A2F"/>
                </a:solidFill>
                <a:latin typeface="Calibri" pitchFamily="34" charset="0"/>
                <a:ea typeface="Calibri" pitchFamily="34" charset="-122"/>
                <a:cs typeface="Calibri" pitchFamily="34" charset="-120"/>
              </a:rPr>
              <a:t>All 10 picks </a:t>
            </a:r>
            <a:pPr indent="0" marL="0">
              <a:buNone/>
            </a:pPr>
            <a:r>
              <a:rPr lang="en-US" sz="1200" dirty="0">
                <a:solidFill>
                  <a:srgbClr val="1B2A2F"/>
                </a:solidFill>
                <a:latin typeface="Calibri" pitchFamily="34" charset="0"/>
                <a:ea typeface="Calibri" pitchFamily="34" charset="-122"/>
                <a:cs typeface="Calibri" pitchFamily="34" charset="-120"/>
              </a:rPr>
              <a:t>had a positive premium in every observed year since 2019; 8 were above $75/week already in 2019.</a:t>
            </a:r>
            <a:endParaRPr lang="en-US" sz="1200" dirty="0"/>
          </a:p>
        </p:txBody>
      </p:sp>
      <p:sp>
        <p:nvSpPr>
          <p:cNvPr id="9" name="Text 6"/>
          <p:cNvSpPr txBox="1"/>
          <p:nvPr/>
        </p:nvSpPr>
        <p:spPr>
          <a:xfrm>
            <a:off x="5897880" y="3611880"/>
            <a:ext cx="2788920" cy="1051560"/>
          </a:xfrm>
          <a:prstGeom prst="rect">
            <a:avLst/>
          </a:prstGeom>
          <a:noFill/>
          <a:ln/>
        </p:spPr>
        <p:txBody>
          <a:bodyPr wrap="square" lIns="0" tIns="0" rIns="0" bIns="0" rtlCol="0" anchor="t"/>
          <a:lstStyle/>
          <a:p>
            <a:pPr indent="0" marL="0">
              <a:buNone/>
            </a:pPr>
            <a:r>
              <a:rPr lang="en-US" sz="1050" i="1" dirty="0">
                <a:solidFill>
                  <a:srgbClr val="4F5D62"/>
                </a:solidFill>
                <a:latin typeface="Calibri" pitchFamily="34" charset="0"/>
                <a:ea typeface="Calibri" pitchFamily="34" charset="-122"/>
                <a:cs typeface="Calibri" pitchFamily="34" charset="-120"/>
              </a:rPr>
              <a:t>Caveat: states survey prices every 2–3 years and NDCP interpolates in between, so adjacent years look more alike than they are. The 3+ year comparisons are the honest test, and they hold.</a:t>
            </a:r>
            <a:endParaRPr lang="en-US" sz="105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7C8A8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457200"/>
            <a:ext cx="8046720" cy="914400"/>
          </a:xfrm>
          <a:prstGeom prst="rect">
            <a:avLst/>
          </a:prstGeom>
          <a:noFill/>
          <a:ln/>
        </p:spPr>
        <p:txBody>
          <a:bodyPr wrap="square" lIns="0" tIns="0" rIns="0" bIns="0" rtlCol="0" anchor="t"/>
          <a:lstStyle/>
          <a:p>
            <a:pPr algn="l" indent="0" marL="0">
              <a:buNone/>
            </a:pPr>
            <a:r>
              <a:rPr lang="en-US" sz="2800" b="1" dirty="0">
                <a:solidFill>
                  <a:srgbClr val="FFFFFF"/>
                </a:solidFill>
                <a:latin typeface="Cambria" pitchFamily="34" charset="0"/>
                <a:ea typeface="Cambria" pitchFamily="34" charset="-122"/>
                <a:cs typeface="Cambria" pitchFamily="34" charset="-120"/>
              </a:rPr>
              <a:t>Before committing capital, close these gaps</a:t>
            </a:r>
            <a:endParaRPr lang="en-US" sz="2800" dirty="0"/>
          </a:p>
        </p:txBody>
      </p:sp>
      <p:sp>
        <p:nvSpPr>
          <p:cNvPr id="3" name="Text 1"/>
          <p:cNvSpPr txBox="1"/>
          <p:nvPr/>
        </p:nvSpPr>
        <p:spPr>
          <a:xfrm>
            <a:off x="548640" y="1143000"/>
            <a:ext cx="4754880" cy="320040"/>
          </a:xfrm>
          <a:prstGeom prst="rect">
            <a:avLst/>
          </a:prstGeom>
          <a:noFill/>
          <a:ln/>
        </p:spPr>
        <p:txBody>
          <a:bodyPr wrap="square" lIns="0" tIns="0" rIns="0" bIns="0" rtlCol="0" anchor="ctr"/>
          <a:lstStyle/>
          <a:p>
            <a:pPr indent="0" marL="0">
              <a:buNone/>
            </a:pPr>
            <a:r>
              <a:rPr lang="en-US" sz="1500" b="1" dirty="0">
                <a:solidFill>
                  <a:srgbClr val="E8613C"/>
                </a:solidFill>
                <a:latin typeface="Cambria" pitchFamily="34" charset="0"/>
                <a:ea typeface="Cambria" pitchFamily="34" charset="-122"/>
                <a:cs typeface="Cambria" pitchFamily="34" charset="-120"/>
              </a:rPr>
              <a:t>What our model does not see</a:t>
            </a:r>
            <a:endParaRPr lang="en-US" sz="1500" dirty="0"/>
          </a:p>
        </p:txBody>
      </p:sp>
      <p:sp>
        <p:nvSpPr>
          <p:cNvPr id="4" name="Text 2"/>
          <p:cNvSpPr txBox="1"/>
          <p:nvPr/>
        </p:nvSpPr>
        <p:spPr>
          <a:xfrm>
            <a:off x="548640" y="1554480"/>
            <a:ext cx="475488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Competition and capacity: </a:t>
            </a:r>
            <a:pPr indent="0" marL="0">
              <a:buNone/>
            </a:pPr>
            <a:r>
              <a:rPr lang="en-US" sz="1200" dirty="0">
                <a:solidFill>
                  <a:srgbClr val="CFE3E4"/>
                </a:solidFill>
                <a:latin typeface="Calibri" pitchFamily="34" charset="0"/>
                <a:ea typeface="Calibri" pitchFamily="34" charset="-122"/>
                <a:cs typeface="Calibri" pitchFamily="34" charset="-120"/>
              </a:rPr>
              <a:t>Licensed slots, waitlists, incumbents (incl. existing Bright Horizons sites)</a:t>
            </a:r>
            <a:endParaRPr lang="en-US" sz="1200" dirty="0"/>
          </a:p>
        </p:txBody>
      </p:sp>
      <p:sp>
        <p:nvSpPr>
          <p:cNvPr id="5" name="Text 3"/>
          <p:cNvSpPr txBox="1"/>
          <p:nvPr/>
        </p:nvSpPr>
        <p:spPr>
          <a:xfrm>
            <a:off x="548640" y="2167128"/>
            <a:ext cx="475488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Regulation: </a:t>
            </a:r>
            <a:pPr indent="0" marL="0">
              <a:buNone/>
            </a:pPr>
            <a:r>
              <a:rPr lang="en-US" sz="1200" dirty="0">
                <a:solidFill>
                  <a:srgbClr val="CFE3E4"/>
                </a:solidFill>
                <a:latin typeface="Calibri" pitchFamily="34" charset="0"/>
                <a:ea typeface="Calibri" pitchFamily="34" charset="-122"/>
                <a:cs typeface="Calibri" pitchFamily="34" charset="-120"/>
              </a:rPr>
              <a:t>Staff-to-child ratios raise cost per child beyond wages (MN is among the strictest)</a:t>
            </a:r>
            <a:endParaRPr lang="en-US" sz="1200" dirty="0"/>
          </a:p>
        </p:txBody>
      </p:sp>
      <p:sp>
        <p:nvSpPr>
          <p:cNvPr id="6" name="Text 4"/>
          <p:cNvSpPr txBox="1"/>
          <p:nvPr/>
        </p:nvSpPr>
        <p:spPr>
          <a:xfrm>
            <a:off x="548640" y="2779776"/>
            <a:ext cx="475488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Real estate: </a:t>
            </a:r>
            <a:pPr indent="0" marL="0">
              <a:buNone/>
            </a:pPr>
            <a:r>
              <a:rPr lang="en-US" sz="1200" dirty="0">
                <a:solidFill>
                  <a:srgbClr val="CFE3E4"/>
                </a:solidFill>
                <a:latin typeface="Calibri" pitchFamily="34" charset="0"/>
                <a:ea typeface="Calibri" pitchFamily="34" charset="-122"/>
                <a:cs typeface="Calibri" pitchFamily="34" charset="-120"/>
              </a:rPr>
              <a:t>Commercial lease rates and zoning, not residential rent</a:t>
            </a:r>
            <a:endParaRPr lang="en-US" sz="1200" dirty="0"/>
          </a:p>
        </p:txBody>
      </p:sp>
      <p:sp>
        <p:nvSpPr>
          <p:cNvPr id="7" name="Text 5"/>
          <p:cNvSpPr txBox="1"/>
          <p:nvPr/>
        </p:nvSpPr>
        <p:spPr>
          <a:xfrm>
            <a:off x="548640" y="3392424"/>
            <a:ext cx="475488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Missing markets: </a:t>
            </a:r>
            <a:pPr indent="0" marL="0">
              <a:buNone/>
            </a:pPr>
            <a:r>
              <a:rPr lang="en-US" sz="1200" dirty="0">
                <a:solidFill>
                  <a:srgbClr val="CFE3E4"/>
                </a:solidFill>
                <a:latin typeface="Calibri" pitchFamily="34" charset="0"/>
                <a:ea typeface="Calibri" pitchFamily="34" charset="-122"/>
                <a:cs typeface="Calibri" pitchFamily="34" charset="-120"/>
              </a:rPr>
              <a:t>No 2022 NDCP prices for PA, IN, MO, NM, AR, PR (Philadelphia, Pittsburgh, St. Louis, Indianapolis)</a:t>
            </a:r>
            <a:endParaRPr lang="en-US" sz="1200" dirty="0"/>
          </a:p>
        </p:txBody>
      </p:sp>
      <p:sp>
        <p:nvSpPr>
          <p:cNvPr id="8" name="Text 6"/>
          <p:cNvSpPr txBox="1"/>
          <p:nvPr/>
        </p:nvSpPr>
        <p:spPr>
          <a:xfrm>
            <a:off x="548640" y="4005072"/>
            <a:ext cx="4754880" cy="566928"/>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Price quality: </a:t>
            </a:r>
            <a:pPr indent="0" marL="0">
              <a:buNone/>
            </a:pPr>
            <a:r>
              <a:rPr lang="en-US" sz="1200" dirty="0">
                <a:solidFill>
                  <a:srgbClr val="CFE3E4"/>
                </a:solidFill>
                <a:latin typeface="Calibri" pitchFamily="34" charset="0"/>
                <a:ea typeface="Calibri" pitchFamily="34" charset="-122"/>
                <a:cs typeface="Calibri" pitchFamily="34" charset="-120"/>
              </a:rPr>
              <a:t>Posted survey medians, some regional or interpolated; not realized prices after discounts</a:t>
            </a:r>
            <a:endParaRPr lang="en-US" sz="1200" dirty="0"/>
          </a:p>
        </p:txBody>
      </p:sp>
      <p:sp>
        <p:nvSpPr>
          <p:cNvPr id="9" name="Shape 7"/>
          <p:cNvSpPr/>
          <p:nvPr/>
        </p:nvSpPr>
        <p:spPr>
          <a:xfrm>
            <a:off x="5669280" y="1143000"/>
            <a:ext cx="2971800" cy="3520440"/>
          </a:xfrm>
          <a:prstGeom prst="roundRect">
            <a:avLst>
              <a:gd name="adj" fmla="val 2462"/>
            </a:avLst>
          </a:prstGeom>
          <a:solidFill>
            <a:srgbClr val="174A53"/>
          </a:solidFill>
          <a:ln w="12700">
            <a:solidFill>
              <a:srgbClr val="174A53"/>
            </a:solidFill>
            <a:prstDash val="solid"/>
          </a:ln>
        </p:spPr>
      </p:sp>
      <p:sp>
        <p:nvSpPr>
          <p:cNvPr id="10" name="Text 8"/>
          <p:cNvSpPr txBox="1"/>
          <p:nvPr/>
        </p:nvSpPr>
        <p:spPr>
          <a:xfrm>
            <a:off x="5852160" y="1261872"/>
            <a:ext cx="2651760" cy="320040"/>
          </a:xfrm>
          <a:prstGeom prst="rect">
            <a:avLst/>
          </a:prstGeom>
          <a:noFill/>
          <a:ln/>
        </p:spPr>
        <p:txBody>
          <a:bodyPr wrap="square" lIns="0" tIns="0" rIns="0" bIns="0" rtlCol="0" anchor="ctr"/>
          <a:lstStyle/>
          <a:p>
            <a:pPr indent="0" marL="0">
              <a:buNone/>
            </a:pPr>
            <a:r>
              <a:rPr lang="en-US" sz="1500" b="1" dirty="0">
                <a:solidFill>
                  <a:srgbClr val="E8613C"/>
                </a:solidFill>
                <a:latin typeface="Cambria" pitchFamily="34" charset="0"/>
                <a:ea typeface="Cambria" pitchFamily="34" charset="-122"/>
                <a:cs typeface="Cambria" pitchFamily="34" charset="-120"/>
              </a:rPr>
              <a:t>Next steps</a:t>
            </a:r>
            <a:endParaRPr lang="en-US" sz="1500" dirty="0"/>
          </a:p>
        </p:txBody>
      </p:sp>
      <p:sp>
        <p:nvSpPr>
          <p:cNvPr id="11" name="Text 9"/>
          <p:cNvSpPr txBox="1"/>
          <p:nvPr/>
        </p:nvSpPr>
        <p:spPr>
          <a:xfrm>
            <a:off x="5852160" y="1691640"/>
            <a:ext cx="2651760" cy="2834640"/>
          </a:xfrm>
          <a:prstGeom prst="rect">
            <a:avLst/>
          </a:prstGeom>
          <a:noFill/>
          <a:ln/>
        </p:spPr>
        <p:txBody>
          <a:bodyPr wrap="square" lIns="0" tIns="0" rIns="0" bIns="0" rtlCol="0" anchor="t"/>
          <a:lstStyle/>
          <a:p>
            <a:pPr marL="228600" indent="-228600">
              <a:spcAft>
                <a:spcPts val="800"/>
              </a:spcAft>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Site and competitor scan in Arlington, Alexandria, San Francisco and Norfolk</a:t>
            </a:r>
            <a:endParaRPr lang="en-US" sz="1200" dirty="0"/>
          </a:p>
          <a:p>
            <a:pPr marL="228600" indent="-228600">
              <a:spcAft>
                <a:spcPts val="800"/>
              </a:spcAft>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Collect local center prices for the six 'verify' counties</a:t>
            </a:r>
            <a:endParaRPr lang="en-US" sz="1200" dirty="0"/>
          </a:p>
          <a:p>
            <a:pPr marL="228600" indent="-228600">
              <a:spcAft>
                <a:spcPts val="800"/>
              </a:spcAft>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Add licensed capacity and commercial rents to the model</a:t>
            </a:r>
            <a:endParaRPr lang="en-US" sz="1200" dirty="0"/>
          </a:p>
          <a:p>
            <a:pPr marL="228600" indent="-228600">
              <a:spcAft>
                <a:spcPts val="800"/>
              </a:spcAft>
              <a:buSzPct val="100000"/>
              <a:buFont typeface="+mj-lt"/>
              <a:buAutoNum type="arabicPeriod" startAt="1"/>
            </a:pPr>
            <a:r>
              <a:rPr lang="en-US" sz="1200" dirty="0">
                <a:solidFill>
                  <a:srgbClr val="FFFFFF"/>
                </a:solidFill>
                <a:latin typeface="Calibri" pitchFamily="34" charset="0"/>
                <a:ea typeface="Calibri" pitchFamily="34" charset="-122"/>
                <a:cs typeface="Calibri" pitchFamily="34" charset="-120"/>
              </a:rPr>
              <a:t>Re-run with NDCP data beyond 2022 as it is released</a:t>
            </a:r>
            <a:endParaRPr lang="en-US" sz="1200" dirty="0"/>
          </a:p>
        </p:txBody>
      </p:sp>
    </p:spTree>
  </p:cSld>
  <p:clrMapOvr>
    <a:masterClrMapping/>
  </p:clrMapOvr>
</p:sld>
</file>

<file path=ppt/theme/theme1.xml><?xml version="1.0" encoding="utf-8"?>
<a:theme xmlns:a="http://schemas.openxmlformats.org/drawingml/2006/main" name="Childcare Markets">
  <a:themeElements>
    <a:clrScheme name="Childcare Markets">
      <a:dk1>
        <a:srgbClr val="1B2A2F"/>
      </a:dk1>
      <a:lt1>
        <a:srgbClr val="FFFFFF"/>
      </a:lt1>
      <a:dk2>
        <a:srgbClr val="0E3B43"/>
      </a:dk2>
      <a:lt2>
        <a:srgbClr val="EAF3F3"/>
      </a:lt2>
      <a:accent1>
        <a:srgbClr val="E8613C"/>
      </a:accent1>
      <a:accent2>
        <a:srgbClr val="1F6F78"/>
      </a:accent2>
      <a:accent3>
        <a:srgbClr val="E9A23B"/>
      </a:accent3>
      <a:accent4>
        <a:srgbClr val="5B8C85"/>
      </a:accent4>
      <a:accent5>
        <a:srgbClr val="9FB8B4"/>
      </a:accent5>
      <a:accent6>
        <a:srgbClr val="7C8A8E"/>
      </a:accent6>
      <a:hlink>
        <a:srgbClr val="1F6F78"/>
      </a:hlink>
      <a:folHlink>
        <a:srgbClr val="7C8A8E"/>
      </a:folHlink>
    </a:clrScheme>
    <a:fontScheme name="Childcare Market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should we open our next center-based preschools?</dc:title>
  <dc:subject>PptxGenJS Presentation</dc:subject>
  <dc:creator>MGT 403 Green Cohort Team 7B</dc:creator>
  <cp:lastModifiedBy>MGT 403 Green Cohort Team 7B</cp:lastModifiedBy>
  <cp:revision>1</cp:revision>
  <dcterms:created xsi:type="dcterms:W3CDTF">2026-10-10T20:37:21Z</dcterms:created>
  <dcterms:modified xsi:type="dcterms:W3CDTF">2026-10-10T20:37:21Z</dcterms:modified>
</cp:coreProperties>
</file>